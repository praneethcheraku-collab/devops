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66" r:id="rId4"/>
    <p:sldId id="259" r:id="rId5"/>
    <p:sldId id="267" r:id="rId6"/>
    <p:sldId id="268" r:id="rId7"/>
    <p:sldId id="269" r:id="rId8"/>
    <p:sldId id="270" r:id="rId9"/>
    <p:sldId id="271" r:id="rId10"/>
    <p:sldId id="272" r:id="rId11"/>
    <p:sldId id="273" r:id="rId12"/>
    <p:sldId id="274" r:id="rId13"/>
    <p:sldId id="275" r:id="rId14"/>
    <p:sldId id="260" r:id="rId15"/>
    <p:sldId id="262" r:id="rId16"/>
    <p:sldId id="263" r:id="rId17"/>
    <p:sldId id="257" r:id="rId18"/>
    <p:sldId id="265" r:id="rId19"/>
    <p:sldId id="277" r:id="rId20"/>
    <p:sldId id="276" r:id="rId21"/>
    <p:sldId id="278"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6" d="100"/>
          <a:sy n="86" d="100"/>
        </p:scale>
        <p:origin x="56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03D32-01F0-804E-3664-3EA96FFDDAB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46F7DEF-A51E-CCA9-374B-5ABA4DDDF8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C4EF3D9C-FE8D-C155-1CBA-AAFE086C1341}"/>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5" name="Footer Placeholder 4">
            <a:extLst>
              <a:ext uri="{FF2B5EF4-FFF2-40B4-BE49-F238E27FC236}">
                <a16:creationId xmlns:a16="http://schemas.microsoft.com/office/drawing/2014/main" id="{F450C7FC-B3BC-8B2B-7EC0-99B0E7A2EDE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14B2BB8-500D-0BDC-F3B5-6EB1ED91A389}"/>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4149431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30D69-DA75-D68A-3CBA-4CA819FC166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461CA67-8069-C49A-59D6-15006BAD42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4DE193-0D99-60BE-24C5-B02004C24CE4}"/>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5" name="Footer Placeholder 4">
            <a:extLst>
              <a:ext uri="{FF2B5EF4-FFF2-40B4-BE49-F238E27FC236}">
                <a16:creationId xmlns:a16="http://schemas.microsoft.com/office/drawing/2014/main" id="{90DA9147-30A4-2F3A-7148-515EB34B9CC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A849E34-7C16-A179-11C3-B70C86C2DCA6}"/>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3146441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D2487A-FAA9-D0E4-1D08-47A52E6BED9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81297E7-9919-9F47-6AF8-9754543704B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0D8F007-AB32-EC28-B727-B0D9BECE851E}"/>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5" name="Footer Placeholder 4">
            <a:extLst>
              <a:ext uri="{FF2B5EF4-FFF2-40B4-BE49-F238E27FC236}">
                <a16:creationId xmlns:a16="http://schemas.microsoft.com/office/drawing/2014/main" id="{3A0F3E6C-BAC8-9ED4-A976-F9F858ED8D5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E3018A5-9336-5E57-4058-3205136C0A2B}"/>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37953464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4518E-2325-4B5F-5ECA-84126D79697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F6AADCD-2390-38FC-A8FB-45812658A6D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0E37F49-450D-D713-20E5-59675143E13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98E56DE6-941E-A864-E79C-4DA665B548AC}"/>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6" name="Footer Placeholder 5">
            <a:extLst>
              <a:ext uri="{FF2B5EF4-FFF2-40B4-BE49-F238E27FC236}">
                <a16:creationId xmlns:a16="http://schemas.microsoft.com/office/drawing/2014/main" id="{CC05F303-9688-75A4-00B4-48D06D9D859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A3AA2F6-A55F-BEFE-EA22-510EEB917C8B}"/>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14905033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39B47-03D9-F7C0-7F46-70306543FA7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6EC85DC-C94E-F9CE-CB2A-001F5FF5180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EC194EA-2997-4853-0118-86C2F7E7943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62BA0B0-3AF6-7E34-300F-8998DF10C9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D1D388E-2D3B-9DFC-16F5-47C545EFFD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3E6528C-7D58-F7B0-269C-3C8EC4327EC6}"/>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8" name="Footer Placeholder 7">
            <a:extLst>
              <a:ext uri="{FF2B5EF4-FFF2-40B4-BE49-F238E27FC236}">
                <a16:creationId xmlns:a16="http://schemas.microsoft.com/office/drawing/2014/main" id="{DAEFD1DF-B053-B31E-E7D7-3DD8C530B5E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BD9E70B-02C6-48B1-970E-2418041B96EA}"/>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1740569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8686D-E16C-EA60-A310-220C3CDCFA4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2ED946A7-8002-26A5-4F12-1AE1E5A4A74C}"/>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4" name="Footer Placeholder 3">
            <a:extLst>
              <a:ext uri="{FF2B5EF4-FFF2-40B4-BE49-F238E27FC236}">
                <a16:creationId xmlns:a16="http://schemas.microsoft.com/office/drawing/2014/main" id="{FB815C3A-44A9-C10A-51C3-94B6A4875D72}"/>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35E61E6-F8AB-37DE-42BC-E5790F23946C}"/>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2827436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2AD4B7-F159-9600-B226-1D9F3B65C8F4}"/>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3" name="Footer Placeholder 2">
            <a:extLst>
              <a:ext uri="{FF2B5EF4-FFF2-40B4-BE49-F238E27FC236}">
                <a16:creationId xmlns:a16="http://schemas.microsoft.com/office/drawing/2014/main" id="{A59BDC88-6B4A-A6A6-4464-A3F6BA6EC05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1A7976C-65E3-C8FB-0668-AA63D8957535}"/>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28718720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E6288-1759-892A-F821-5AEF80E802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3D86CC9-B328-70E3-331A-C630614943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2B900A64-A308-22B3-5DCE-5AA95768CD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91E756-F0B1-C0E7-D3AF-837730050D11}"/>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6" name="Footer Placeholder 5">
            <a:extLst>
              <a:ext uri="{FF2B5EF4-FFF2-40B4-BE49-F238E27FC236}">
                <a16:creationId xmlns:a16="http://schemas.microsoft.com/office/drawing/2014/main" id="{D1E49F44-4DF2-AE86-950C-738DE0B6047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ED525C-4D3E-2B79-598F-828871AB490E}"/>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17938734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C778D-D941-58CF-434E-4E50F3F3C4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DC76402-F818-45FC-398A-DB66BA588F5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26D21311-0AB3-6EF4-E48B-C7FA85CEB3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0FB3D75-825F-DBC3-6EFC-3F34DD8A37AC}"/>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6" name="Footer Placeholder 5">
            <a:extLst>
              <a:ext uri="{FF2B5EF4-FFF2-40B4-BE49-F238E27FC236}">
                <a16:creationId xmlns:a16="http://schemas.microsoft.com/office/drawing/2014/main" id="{6C8ECFBE-8450-12AB-DCC5-084AD05F7FA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D80400B-D16E-3A86-50A9-DC1C5BD469F3}"/>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3745688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F6999-B3C3-15B3-7BD7-F190ED36461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D4E0FFA-1DAD-F7AD-65C5-8D75E017EF8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A306919-D227-ECE7-EF26-171B3B5F3D49}"/>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5" name="Footer Placeholder 4">
            <a:extLst>
              <a:ext uri="{FF2B5EF4-FFF2-40B4-BE49-F238E27FC236}">
                <a16:creationId xmlns:a16="http://schemas.microsoft.com/office/drawing/2014/main" id="{7B605099-1C82-7ABF-301D-9FB3D2EF8D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67B1DFB-56DA-4CD7-C00E-6D41C22E03AD}"/>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108106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CA8958-9C06-3009-8381-8E816F00A4A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C1C0F6DA-667E-8A39-6340-8760ABF51A7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C4C2DF9-C793-A920-525F-9DCFFF421538}"/>
              </a:ext>
            </a:extLst>
          </p:cNvPr>
          <p:cNvSpPr>
            <a:spLocks noGrp="1"/>
          </p:cNvSpPr>
          <p:nvPr>
            <p:ph type="dt" sz="half" idx="10"/>
          </p:nvPr>
        </p:nvSpPr>
        <p:spPr/>
        <p:txBody>
          <a:bodyPr/>
          <a:lstStyle/>
          <a:p>
            <a:fld id="{DE87B14F-BE39-41BB-8A77-0729CFB71114}" type="datetimeFigureOut">
              <a:rPr lang="en-IN" smtClean="0"/>
              <a:t>04-04-2023</a:t>
            </a:fld>
            <a:endParaRPr lang="en-IN"/>
          </a:p>
        </p:txBody>
      </p:sp>
      <p:sp>
        <p:nvSpPr>
          <p:cNvPr id="5" name="Footer Placeholder 4">
            <a:extLst>
              <a:ext uri="{FF2B5EF4-FFF2-40B4-BE49-F238E27FC236}">
                <a16:creationId xmlns:a16="http://schemas.microsoft.com/office/drawing/2014/main" id="{0DF9D799-B3C7-E7CA-5501-0A5AF683715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3A0F311-35A1-4D3A-BC28-DBE890619B47}"/>
              </a:ext>
            </a:extLst>
          </p:cNvPr>
          <p:cNvSpPr>
            <a:spLocks noGrp="1"/>
          </p:cNvSpPr>
          <p:nvPr>
            <p:ph type="sldNum" sz="quarter" idx="12"/>
          </p:nvPr>
        </p:nvSpPr>
        <p:spPr/>
        <p:txBody>
          <a:bodyPr/>
          <a:lstStyle/>
          <a:p>
            <a:fld id="{3739A0F6-5189-419C-9A3D-337D41F788CC}" type="slidenum">
              <a:rPr lang="en-IN" smtClean="0"/>
              <a:t>‹#›</a:t>
            </a:fld>
            <a:endParaRPr lang="en-IN"/>
          </a:p>
        </p:txBody>
      </p:sp>
    </p:spTree>
    <p:extLst>
      <p:ext uri="{BB962C8B-B14F-4D97-AF65-F5344CB8AC3E}">
        <p14:creationId xmlns:p14="http://schemas.microsoft.com/office/powerpoint/2010/main" val="22382692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3FC36A-47F2-432F-8881-F73D61AD85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7F1CB27-04EE-C26A-34AB-11EA455115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EEE6A44-CC0A-CB52-4314-DF5169ABCA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E87B14F-BE39-41BB-8A77-0729CFB71114}" type="datetimeFigureOut">
              <a:rPr lang="en-IN" smtClean="0"/>
              <a:t>04-04-2023</a:t>
            </a:fld>
            <a:endParaRPr lang="en-IN"/>
          </a:p>
        </p:txBody>
      </p:sp>
      <p:sp>
        <p:nvSpPr>
          <p:cNvPr id="5" name="Footer Placeholder 4">
            <a:extLst>
              <a:ext uri="{FF2B5EF4-FFF2-40B4-BE49-F238E27FC236}">
                <a16:creationId xmlns:a16="http://schemas.microsoft.com/office/drawing/2014/main" id="{084B2941-9F58-A956-7788-E5404F4D40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18C6438E-17E8-4E73-21EF-A08E46F02B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39A0F6-5189-419C-9A3D-337D41F788CC}" type="slidenum">
              <a:rPr lang="en-IN" smtClean="0"/>
              <a:t>‹#›</a:t>
            </a:fld>
            <a:endParaRPr lang="en-IN"/>
          </a:p>
        </p:txBody>
      </p:sp>
    </p:spTree>
    <p:extLst>
      <p:ext uri="{BB962C8B-B14F-4D97-AF65-F5344CB8AC3E}">
        <p14:creationId xmlns:p14="http://schemas.microsoft.com/office/powerpoint/2010/main" val="12584911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settings/key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B90C9-1235-DA86-DB20-71157058A8D3}"/>
              </a:ext>
            </a:extLst>
          </p:cNvPr>
          <p:cNvSpPr>
            <a:spLocks noGrp="1"/>
          </p:cNvSpPr>
          <p:nvPr>
            <p:ph type="ctrTitle"/>
          </p:nvPr>
        </p:nvSpPr>
        <p:spPr/>
        <p:txBody>
          <a:bodyPr/>
          <a:lstStyle/>
          <a:p>
            <a:r>
              <a:rPr lang="en-US" dirty="0"/>
              <a:t>Git</a:t>
            </a:r>
            <a:endParaRPr lang="en-IN" dirty="0"/>
          </a:p>
        </p:txBody>
      </p:sp>
      <p:sp>
        <p:nvSpPr>
          <p:cNvPr id="3" name="Subtitle 2">
            <a:extLst>
              <a:ext uri="{FF2B5EF4-FFF2-40B4-BE49-F238E27FC236}">
                <a16:creationId xmlns:a16="http://schemas.microsoft.com/office/drawing/2014/main" id="{CE17408C-74A4-F85D-13AF-118B97525D95}"/>
              </a:ext>
            </a:extLst>
          </p:cNvPr>
          <p:cNvSpPr>
            <a:spLocks noGrp="1"/>
          </p:cNvSpPr>
          <p:nvPr>
            <p:ph type="subTitle" idx="1"/>
          </p:nvPr>
        </p:nvSpPr>
        <p:spPr/>
        <p:txBody>
          <a:bodyPr/>
          <a:lstStyle/>
          <a:p>
            <a:endParaRPr lang="en-IN"/>
          </a:p>
        </p:txBody>
      </p:sp>
    </p:spTree>
    <p:extLst>
      <p:ext uri="{BB962C8B-B14F-4D97-AF65-F5344CB8AC3E}">
        <p14:creationId xmlns:p14="http://schemas.microsoft.com/office/powerpoint/2010/main" val="35508254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7ABC0-1AF7-6BE0-29B9-33D234FEB32C}"/>
              </a:ext>
            </a:extLst>
          </p:cNvPr>
          <p:cNvSpPr>
            <a:spLocks noGrp="1"/>
          </p:cNvSpPr>
          <p:nvPr>
            <p:ph type="title"/>
          </p:nvPr>
        </p:nvSpPr>
        <p:spPr/>
        <p:txBody>
          <a:bodyPr/>
          <a:lstStyle/>
          <a:p>
            <a:pPr algn="ctr"/>
            <a:r>
              <a:rPr lang="en-IN" dirty="0"/>
              <a:t>What is Git?</a:t>
            </a:r>
          </a:p>
        </p:txBody>
      </p:sp>
      <p:sp>
        <p:nvSpPr>
          <p:cNvPr id="3" name="Content Placeholder 2">
            <a:extLst>
              <a:ext uri="{FF2B5EF4-FFF2-40B4-BE49-F238E27FC236}">
                <a16:creationId xmlns:a16="http://schemas.microsoft.com/office/drawing/2014/main" id="{BE1D56FB-B600-BBE7-0B90-E550F843B614}"/>
              </a:ext>
            </a:extLst>
          </p:cNvPr>
          <p:cNvSpPr>
            <a:spLocks noGrp="1"/>
          </p:cNvSpPr>
          <p:nvPr>
            <p:ph idx="1"/>
          </p:nvPr>
        </p:nvSpPr>
        <p:spPr>
          <a:xfrm>
            <a:off x="838200" y="1198485"/>
            <a:ext cx="10515600" cy="4978478"/>
          </a:xfrm>
        </p:spPr>
        <p:txBody>
          <a:bodyPr>
            <a:normAutofit/>
          </a:bodyPr>
          <a:lstStyle/>
          <a:p>
            <a:r>
              <a:rPr lang="en-US" dirty="0"/>
              <a:t>Git is a Version Control System (VCS) designed to make it easier to have multiple versions of a code base, sometimes across multiple developers or teams. </a:t>
            </a:r>
          </a:p>
          <a:p>
            <a:r>
              <a:rPr lang="en-US" dirty="0"/>
              <a:t>It allows you to see changes you make to your code and easily revert them.</a:t>
            </a:r>
          </a:p>
          <a:p>
            <a:r>
              <a:rPr lang="en-US" dirty="0"/>
              <a:t>VC, also known as source control, is a software that tracks and manages changes to files over time. Allows revisit earlier versions of the files, compare changes between versions, undo changes, etc. </a:t>
            </a:r>
            <a:endParaRPr lang="en-IN" dirty="0"/>
          </a:p>
        </p:txBody>
      </p:sp>
    </p:spTree>
    <p:extLst>
      <p:ext uri="{BB962C8B-B14F-4D97-AF65-F5344CB8AC3E}">
        <p14:creationId xmlns:p14="http://schemas.microsoft.com/office/powerpoint/2010/main" val="471191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451A2-6BE4-B636-3CA8-AF1C731B0747}"/>
              </a:ext>
            </a:extLst>
          </p:cNvPr>
          <p:cNvSpPr>
            <a:spLocks noGrp="1"/>
          </p:cNvSpPr>
          <p:nvPr>
            <p:ph type="title"/>
          </p:nvPr>
        </p:nvSpPr>
        <p:spPr/>
        <p:txBody>
          <a:bodyPr/>
          <a:lstStyle/>
          <a:p>
            <a:r>
              <a:rPr lang="en-US" dirty="0"/>
              <a:t>Main features:</a:t>
            </a:r>
            <a:endParaRPr lang="en-IN" dirty="0"/>
          </a:p>
        </p:txBody>
      </p:sp>
      <p:sp>
        <p:nvSpPr>
          <p:cNvPr id="3" name="Content Placeholder 2">
            <a:extLst>
              <a:ext uri="{FF2B5EF4-FFF2-40B4-BE49-F238E27FC236}">
                <a16:creationId xmlns:a16="http://schemas.microsoft.com/office/drawing/2014/main" id="{E60939F3-FF17-2A45-E0CC-02805D636E9D}"/>
              </a:ext>
            </a:extLst>
          </p:cNvPr>
          <p:cNvSpPr>
            <a:spLocks noGrp="1"/>
          </p:cNvSpPr>
          <p:nvPr>
            <p:ph idx="1"/>
          </p:nvPr>
        </p:nvSpPr>
        <p:spPr/>
        <p:txBody>
          <a:bodyPr/>
          <a:lstStyle/>
          <a:p>
            <a:r>
              <a:rPr lang="en-US" dirty="0"/>
              <a:t>Track changes across multiple files </a:t>
            </a:r>
          </a:p>
          <a:p>
            <a:r>
              <a:rPr lang="en-US" dirty="0"/>
              <a:t>Compare versions of a project </a:t>
            </a:r>
          </a:p>
          <a:p>
            <a:r>
              <a:rPr lang="en-US" dirty="0"/>
              <a:t>“Time travel” back to old versions </a:t>
            </a:r>
          </a:p>
          <a:p>
            <a:r>
              <a:rPr lang="en-US" dirty="0"/>
              <a:t>Revert to a previous version </a:t>
            </a:r>
          </a:p>
          <a:p>
            <a:r>
              <a:rPr lang="en-US" dirty="0"/>
              <a:t>Collaborate and share changes • Combine changes</a:t>
            </a:r>
            <a:endParaRPr lang="en-IN" dirty="0"/>
          </a:p>
        </p:txBody>
      </p:sp>
    </p:spTree>
    <p:extLst>
      <p:ext uri="{BB962C8B-B14F-4D97-AF65-F5344CB8AC3E}">
        <p14:creationId xmlns:p14="http://schemas.microsoft.com/office/powerpoint/2010/main" val="2242724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E5E3D-51E7-456D-2933-FC1E6BF43B55}"/>
              </a:ext>
            </a:extLst>
          </p:cNvPr>
          <p:cNvSpPr>
            <a:spLocks noGrp="1"/>
          </p:cNvSpPr>
          <p:nvPr>
            <p:ph type="title"/>
          </p:nvPr>
        </p:nvSpPr>
        <p:spPr/>
        <p:txBody>
          <a:bodyPr/>
          <a:lstStyle/>
          <a:p>
            <a:pPr algn="ctr"/>
            <a:r>
              <a:rPr lang="en-IN" dirty="0"/>
              <a:t>What is </a:t>
            </a:r>
            <a:r>
              <a:rPr lang="en-IN" dirty="0" err="1"/>
              <a:t>Github</a:t>
            </a:r>
            <a:r>
              <a:rPr lang="en-IN" dirty="0"/>
              <a:t>? </a:t>
            </a:r>
          </a:p>
        </p:txBody>
      </p:sp>
      <p:sp>
        <p:nvSpPr>
          <p:cNvPr id="3" name="Content Placeholder 2">
            <a:extLst>
              <a:ext uri="{FF2B5EF4-FFF2-40B4-BE49-F238E27FC236}">
                <a16:creationId xmlns:a16="http://schemas.microsoft.com/office/drawing/2014/main" id="{513B77D0-E34C-25FF-B468-E98575F410CA}"/>
              </a:ext>
            </a:extLst>
          </p:cNvPr>
          <p:cNvSpPr>
            <a:spLocks noGrp="1"/>
          </p:cNvSpPr>
          <p:nvPr>
            <p:ph idx="1"/>
          </p:nvPr>
        </p:nvSpPr>
        <p:spPr/>
        <p:txBody>
          <a:bodyPr/>
          <a:lstStyle/>
          <a:p>
            <a:r>
              <a:rPr lang="en-US" dirty="0"/>
              <a:t>Github.com is a website that hosts git repositories on a remote server </a:t>
            </a:r>
          </a:p>
          <a:p>
            <a:r>
              <a:rPr lang="en-US" dirty="0"/>
              <a:t>Hosting repositories on </a:t>
            </a:r>
            <a:r>
              <a:rPr lang="en-US" dirty="0" err="1"/>
              <a:t>Github</a:t>
            </a:r>
            <a:r>
              <a:rPr lang="en-US" dirty="0"/>
              <a:t> facilitates the sharing of codebases among teams by providing a GUI to easily fork or clone repos to a local machine</a:t>
            </a:r>
          </a:p>
          <a:p>
            <a:r>
              <a:rPr lang="en-US" dirty="0"/>
              <a:t>By pushing your repositories to </a:t>
            </a:r>
            <a:r>
              <a:rPr lang="en-US" dirty="0" err="1"/>
              <a:t>Github</a:t>
            </a:r>
            <a:r>
              <a:rPr lang="en-US" dirty="0"/>
              <a:t>, you will pretty much automatically create your own developer portfolio as well!</a:t>
            </a:r>
            <a:endParaRPr lang="en-IN" dirty="0"/>
          </a:p>
        </p:txBody>
      </p:sp>
    </p:spTree>
    <p:extLst>
      <p:ext uri="{BB962C8B-B14F-4D97-AF65-F5344CB8AC3E}">
        <p14:creationId xmlns:p14="http://schemas.microsoft.com/office/powerpoint/2010/main" val="1670919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51508-CD26-32C0-BCE1-A0002FF333C9}"/>
              </a:ext>
            </a:extLst>
          </p:cNvPr>
          <p:cNvSpPr>
            <a:spLocks noGrp="1"/>
          </p:cNvSpPr>
          <p:nvPr>
            <p:ph type="title"/>
          </p:nvPr>
        </p:nvSpPr>
        <p:spPr>
          <a:xfrm>
            <a:off x="838200" y="365125"/>
            <a:ext cx="10515600" cy="913259"/>
          </a:xfrm>
        </p:spPr>
        <p:txBody>
          <a:bodyPr/>
          <a:lstStyle/>
          <a:p>
            <a:r>
              <a:rPr lang="en-IN" dirty="0"/>
              <a:t>LOCAL VERSION CONTROL SYSTEM</a:t>
            </a:r>
          </a:p>
        </p:txBody>
      </p:sp>
      <p:sp>
        <p:nvSpPr>
          <p:cNvPr id="3" name="Content Placeholder 2">
            <a:extLst>
              <a:ext uri="{FF2B5EF4-FFF2-40B4-BE49-F238E27FC236}">
                <a16:creationId xmlns:a16="http://schemas.microsoft.com/office/drawing/2014/main" id="{C942DDD5-355B-FA2D-0180-FF7299C64786}"/>
              </a:ext>
            </a:extLst>
          </p:cNvPr>
          <p:cNvSpPr>
            <a:spLocks noGrp="1"/>
          </p:cNvSpPr>
          <p:nvPr>
            <p:ph idx="1"/>
          </p:nvPr>
        </p:nvSpPr>
        <p:spPr>
          <a:xfrm>
            <a:off x="701336" y="1278384"/>
            <a:ext cx="10652464" cy="4898579"/>
          </a:xfrm>
        </p:spPr>
        <p:txBody>
          <a:bodyPr/>
          <a:lstStyle/>
          <a:p>
            <a:r>
              <a:rPr lang="en-US" dirty="0"/>
              <a:t>A local version control system is a local database located on your local computer, that keeps all the changes to files under revision control. One of the most popular VCS tools was a system called RCS, which is still distributed with many computers today. </a:t>
            </a:r>
          </a:p>
          <a:p>
            <a:r>
              <a:rPr lang="en-US" dirty="0"/>
              <a:t>RCS works by keeping patch sets (that is, the differences between files) in a special format on disk; it can then re -create what any file looked like at any point in time by adding up all the patches.</a:t>
            </a:r>
            <a:endParaRPr lang="en-IN" dirty="0"/>
          </a:p>
        </p:txBody>
      </p:sp>
      <p:pic>
        <p:nvPicPr>
          <p:cNvPr id="5" name="Picture 4">
            <a:extLst>
              <a:ext uri="{FF2B5EF4-FFF2-40B4-BE49-F238E27FC236}">
                <a16:creationId xmlns:a16="http://schemas.microsoft.com/office/drawing/2014/main" id="{630EA0B1-B8A6-423D-8CFF-C1B45FDBC603}"/>
              </a:ext>
            </a:extLst>
          </p:cNvPr>
          <p:cNvPicPr>
            <a:picLocks noChangeAspect="1"/>
          </p:cNvPicPr>
          <p:nvPr/>
        </p:nvPicPr>
        <p:blipFill>
          <a:blip r:embed="rId2"/>
          <a:stretch>
            <a:fillRect/>
          </a:stretch>
        </p:blipFill>
        <p:spPr>
          <a:xfrm>
            <a:off x="3204626" y="4124638"/>
            <a:ext cx="4877223" cy="2568163"/>
          </a:xfrm>
          <a:prstGeom prst="rect">
            <a:avLst/>
          </a:prstGeom>
        </p:spPr>
      </p:pic>
    </p:spTree>
    <p:extLst>
      <p:ext uri="{BB962C8B-B14F-4D97-AF65-F5344CB8AC3E}">
        <p14:creationId xmlns:p14="http://schemas.microsoft.com/office/powerpoint/2010/main" val="38938528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46D2-091E-91B7-295E-C95423829CC5}"/>
              </a:ext>
            </a:extLst>
          </p:cNvPr>
          <p:cNvSpPr>
            <a:spLocks noGrp="1"/>
          </p:cNvSpPr>
          <p:nvPr>
            <p:ph type="title"/>
          </p:nvPr>
        </p:nvSpPr>
        <p:spPr/>
        <p:txBody>
          <a:bodyPr/>
          <a:lstStyle/>
          <a:p>
            <a:r>
              <a:rPr lang="en-IN" dirty="0"/>
              <a:t>Disadvantages:</a:t>
            </a:r>
          </a:p>
        </p:txBody>
      </p:sp>
      <p:sp>
        <p:nvSpPr>
          <p:cNvPr id="3" name="Content Placeholder 2">
            <a:extLst>
              <a:ext uri="{FF2B5EF4-FFF2-40B4-BE49-F238E27FC236}">
                <a16:creationId xmlns:a16="http://schemas.microsoft.com/office/drawing/2014/main" id="{716FAAD1-93F8-B3C1-00EA-A3D05D44650A}"/>
              </a:ext>
            </a:extLst>
          </p:cNvPr>
          <p:cNvSpPr>
            <a:spLocks noGrp="1"/>
          </p:cNvSpPr>
          <p:nvPr>
            <p:ph idx="1"/>
          </p:nvPr>
        </p:nvSpPr>
        <p:spPr/>
        <p:txBody>
          <a:bodyPr/>
          <a:lstStyle/>
          <a:p>
            <a:r>
              <a:rPr lang="en-US" dirty="0"/>
              <a:t>If anything were to happen to the local database, all the patches would be lost. </a:t>
            </a:r>
          </a:p>
          <a:p>
            <a:r>
              <a:rPr lang="en-US" dirty="0"/>
              <a:t>If anything were to happen to a single version, all the changes made after that version would be lost. </a:t>
            </a:r>
          </a:p>
          <a:p>
            <a:r>
              <a:rPr lang="en-US" dirty="0"/>
              <a:t>Collaborating with other developers or a team is very hard or nearly impossible.</a:t>
            </a:r>
            <a:endParaRPr lang="en-IN" dirty="0"/>
          </a:p>
        </p:txBody>
      </p:sp>
    </p:spTree>
    <p:extLst>
      <p:ext uri="{BB962C8B-B14F-4D97-AF65-F5344CB8AC3E}">
        <p14:creationId xmlns:p14="http://schemas.microsoft.com/office/powerpoint/2010/main" val="2415411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9A514-7572-739C-A0F5-CBD49256F185}"/>
              </a:ext>
            </a:extLst>
          </p:cNvPr>
          <p:cNvSpPr>
            <a:spLocks noGrp="1"/>
          </p:cNvSpPr>
          <p:nvPr>
            <p:ph type="title"/>
          </p:nvPr>
        </p:nvSpPr>
        <p:spPr>
          <a:xfrm>
            <a:off x="838200" y="365125"/>
            <a:ext cx="10515600" cy="646929"/>
          </a:xfrm>
        </p:spPr>
        <p:txBody>
          <a:bodyPr>
            <a:normAutofit fontScale="90000"/>
          </a:bodyPr>
          <a:lstStyle/>
          <a:p>
            <a:r>
              <a:rPr lang="en-IN" dirty="0"/>
              <a:t>CENTRALIZED VERSION CONTROL SYSTEM</a:t>
            </a:r>
          </a:p>
        </p:txBody>
      </p:sp>
      <p:sp>
        <p:nvSpPr>
          <p:cNvPr id="3" name="Content Placeholder 2">
            <a:extLst>
              <a:ext uri="{FF2B5EF4-FFF2-40B4-BE49-F238E27FC236}">
                <a16:creationId xmlns:a16="http://schemas.microsoft.com/office/drawing/2014/main" id="{446CCE3B-4BF1-0CDA-CF5F-73499F15FFAD}"/>
              </a:ext>
            </a:extLst>
          </p:cNvPr>
          <p:cNvSpPr>
            <a:spLocks noGrp="1"/>
          </p:cNvSpPr>
          <p:nvPr>
            <p:ph idx="1"/>
          </p:nvPr>
        </p:nvSpPr>
        <p:spPr>
          <a:xfrm>
            <a:off x="838200" y="1012054"/>
            <a:ext cx="10515600" cy="5164909"/>
          </a:xfrm>
        </p:spPr>
        <p:txBody>
          <a:bodyPr/>
          <a:lstStyle/>
          <a:p>
            <a:r>
              <a:rPr lang="en-US" dirty="0"/>
              <a:t>A centralized version control system has a single server that contains all the file versions. This enables multiple clients to simultaneously access files on the server, pull them to their local computer or push them onto the server from their local computer. This way, everyone usually knows what everyone else on the project is doing. Administrators have control over who can do what. Examples of CVCS are TFS (Microsoft Team Foundation) and SVN.</a:t>
            </a:r>
            <a:endParaRPr lang="en-IN" dirty="0"/>
          </a:p>
        </p:txBody>
      </p:sp>
      <p:pic>
        <p:nvPicPr>
          <p:cNvPr id="5" name="Picture 4">
            <a:extLst>
              <a:ext uri="{FF2B5EF4-FFF2-40B4-BE49-F238E27FC236}">
                <a16:creationId xmlns:a16="http://schemas.microsoft.com/office/drawing/2014/main" id="{7191C1BE-4214-7A19-67A8-D913C696130B}"/>
              </a:ext>
            </a:extLst>
          </p:cNvPr>
          <p:cNvPicPr>
            <a:picLocks noChangeAspect="1"/>
          </p:cNvPicPr>
          <p:nvPr/>
        </p:nvPicPr>
        <p:blipFill>
          <a:blip r:embed="rId2"/>
          <a:stretch>
            <a:fillRect/>
          </a:stretch>
        </p:blipFill>
        <p:spPr>
          <a:xfrm>
            <a:off x="3459684" y="3704521"/>
            <a:ext cx="4686706" cy="3017782"/>
          </a:xfrm>
          <a:prstGeom prst="rect">
            <a:avLst/>
          </a:prstGeom>
        </p:spPr>
      </p:pic>
    </p:spTree>
    <p:extLst>
      <p:ext uri="{BB962C8B-B14F-4D97-AF65-F5344CB8AC3E}">
        <p14:creationId xmlns:p14="http://schemas.microsoft.com/office/powerpoint/2010/main" val="4008278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D315CB-DC2F-EE84-39CD-5861C7257903}"/>
              </a:ext>
            </a:extLst>
          </p:cNvPr>
          <p:cNvSpPr>
            <a:spLocks noGrp="1"/>
          </p:cNvSpPr>
          <p:nvPr>
            <p:ph type="title"/>
          </p:nvPr>
        </p:nvSpPr>
        <p:spPr/>
        <p:txBody>
          <a:bodyPr/>
          <a:lstStyle/>
          <a:p>
            <a:r>
              <a:rPr lang="en-IN" dirty="0"/>
              <a:t>Disadvantages</a:t>
            </a:r>
          </a:p>
        </p:txBody>
      </p:sp>
      <p:sp>
        <p:nvSpPr>
          <p:cNvPr id="3" name="Content Placeholder 2">
            <a:extLst>
              <a:ext uri="{FF2B5EF4-FFF2-40B4-BE49-F238E27FC236}">
                <a16:creationId xmlns:a16="http://schemas.microsoft.com/office/drawing/2014/main" id="{738C678A-1995-9609-1BAB-93D20F081D30}"/>
              </a:ext>
            </a:extLst>
          </p:cNvPr>
          <p:cNvSpPr>
            <a:spLocks noGrp="1"/>
          </p:cNvSpPr>
          <p:nvPr>
            <p:ph idx="1"/>
          </p:nvPr>
        </p:nvSpPr>
        <p:spPr/>
        <p:txBody>
          <a:bodyPr/>
          <a:lstStyle/>
          <a:p>
            <a:r>
              <a:rPr lang="en-US" dirty="0"/>
              <a:t>If the main server goes down, developers can’t save versioned changes </a:t>
            </a:r>
          </a:p>
          <a:p>
            <a:r>
              <a:rPr lang="en-US" dirty="0"/>
              <a:t>If the central database is corrupted, the entire history could be lost (security issues) </a:t>
            </a:r>
          </a:p>
          <a:p>
            <a:r>
              <a:rPr lang="en-US" dirty="0"/>
              <a:t>Slow speed delays development</a:t>
            </a:r>
            <a:endParaRPr lang="en-IN" dirty="0"/>
          </a:p>
        </p:txBody>
      </p:sp>
    </p:spTree>
    <p:extLst>
      <p:ext uri="{BB962C8B-B14F-4D97-AF65-F5344CB8AC3E}">
        <p14:creationId xmlns:p14="http://schemas.microsoft.com/office/powerpoint/2010/main" val="38158352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A7470-079D-88F8-F7C4-D50A2A379691}"/>
              </a:ext>
            </a:extLst>
          </p:cNvPr>
          <p:cNvSpPr>
            <a:spLocks noGrp="1"/>
          </p:cNvSpPr>
          <p:nvPr>
            <p:ph type="title"/>
          </p:nvPr>
        </p:nvSpPr>
        <p:spPr>
          <a:xfrm>
            <a:off x="838200" y="365125"/>
            <a:ext cx="10515600" cy="717951"/>
          </a:xfrm>
        </p:spPr>
        <p:txBody>
          <a:bodyPr/>
          <a:lstStyle/>
          <a:p>
            <a:r>
              <a:rPr lang="en-IN" dirty="0"/>
              <a:t>DISTRIBUTED VERSION CONTROL SYSTEM</a:t>
            </a:r>
          </a:p>
        </p:txBody>
      </p:sp>
      <p:sp>
        <p:nvSpPr>
          <p:cNvPr id="3" name="Content Placeholder 2">
            <a:extLst>
              <a:ext uri="{FF2B5EF4-FFF2-40B4-BE49-F238E27FC236}">
                <a16:creationId xmlns:a16="http://schemas.microsoft.com/office/drawing/2014/main" id="{EF14AC54-B293-6EC1-841A-330AF7452687}"/>
              </a:ext>
            </a:extLst>
          </p:cNvPr>
          <p:cNvSpPr>
            <a:spLocks noGrp="1"/>
          </p:cNvSpPr>
          <p:nvPr>
            <p:ph idx="1"/>
          </p:nvPr>
        </p:nvSpPr>
        <p:spPr>
          <a:xfrm>
            <a:off x="452761" y="1020932"/>
            <a:ext cx="10901039" cy="5156031"/>
          </a:xfrm>
        </p:spPr>
        <p:txBody>
          <a:bodyPr/>
          <a:lstStyle/>
          <a:p>
            <a:r>
              <a:rPr lang="en-US" dirty="0"/>
              <a:t>With distributed version control systems, clients don’t just check out the latest snapshot of the files from the server, they fully mirror the repository, including its full history. Thus, everyone collaborating on a project owns a local copy of the whole project, i.e. owns their own local database with their own complete history. Git is the most well-known example of distributed version control systems.</a:t>
            </a:r>
            <a:endParaRPr lang="en-IN" dirty="0"/>
          </a:p>
        </p:txBody>
      </p:sp>
      <p:pic>
        <p:nvPicPr>
          <p:cNvPr id="5" name="Picture 4">
            <a:extLst>
              <a:ext uri="{FF2B5EF4-FFF2-40B4-BE49-F238E27FC236}">
                <a16:creationId xmlns:a16="http://schemas.microsoft.com/office/drawing/2014/main" id="{189D059F-61D6-F0D5-4BF4-EF67D6F5A39E}"/>
              </a:ext>
            </a:extLst>
          </p:cNvPr>
          <p:cNvPicPr>
            <a:picLocks noChangeAspect="1"/>
          </p:cNvPicPr>
          <p:nvPr/>
        </p:nvPicPr>
        <p:blipFill>
          <a:blip r:embed="rId2"/>
          <a:stretch>
            <a:fillRect/>
          </a:stretch>
        </p:blipFill>
        <p:spPr>
          <a:xfrm>
            <a:off x="3404060" y="3350396"/>
            <a:ext cx="4442845" cy="3406435"/>
          </a:xfrm>
          <a:prstGeom prst="rect">
            <a:avLst/>
          </a:prstGeom>
        </p:spPr>
      </p:pic>
    </p:spTree>
    <p:extLst>
      <p:ext uri="{BB962C8B-B14F-4D97-AF65-F5344CB8AC3E}">
        <p14:creationId xmlns:p14="http://schemas.microsoft.com/office/powerpoint/2010/main" val="37128936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4AFA00-FD46-807E-5DF5-48EEC6DC4BB4}"/>
              </a:ext>
            </a:extLst>
          </p:cNvPr>
          <p:cNvSpPr>
            <a:spLocks noGrp="1"/>
          </p:cNvSpPr>
          <p:nvPr>
            <p:ph type="title"/>
          </p:nvPr>
        </p:nvSpPr>
        <p:spPr/>
        <p:txBody>
          <a:bodyPr/>
          <a:lstStyle/>
          <a:p>
            <a:r>
              <a:rPr lang="en-IN" dirty="0"/>
              <a:t>Advantages</a:t>
            </a:r>
          </a:p>
        </p:txBody>
      </p:sp>
      <p:sp>
        <p:nvSpPr>
          <p:cNvPr id="3" name="Content Placeholder 2">
            <a:extLst>
              <a:ext uri="{FF2B5EF4-FFF2-40B4-BE49-F238E27FC236}">
                <a16:creationId xmlns:a16="http://schemas.microsoft.com/office/drawing/2014/main" id="{592AA428-97F9-2B2B-B7FE-125419279EDF}"/>
              </a:ext>
            </a:extLst>
          </p:cNvPr>
          <p:cNvSpPr>
            <a:spLocks noGrp="1"/>
          </p:cNvSpPr>
          <p:nvPr>
            <p:ph idx="1"/>
          </p:nvPr>
        </p:nvSpPr>
        <p:spPr/>
        <p:txBody>
          <a:bodyPr/>
          <a:lstStyle/>
          <a:p>
            <a:r>
              <a:rPr lang="en-US" dirty="0"/>
              <a:t>Reliable backup copies: if the server dies, any of the client repositories can send a copy of the project’s version </a:t>
            </a:r>
          </a:p>
          <a:p>
            <a:r>
              <a:rPr lang="en-US" dirty="0"/>
              <a:t>Fast merging and flexible branching </a:t>
            </a:r>
          </a:p>
          <a:p>
            <a:r>
              <a:rPr lang="en-US" dirty="0"/>
              <a:t>Rapid feedback and fewer merge conflicts </a:t>
            </a:r>
          </a:p>
          <a:p>
            <a:r>
              <a:rPr lang="en-US" dirty="0"/>
              <a:t>Flexibility to work offline</a:t>
            </a:r>
            <a:endParaRPr lang="en-IN" dirty="0"/>
          </a:p>
        </p:txBody>
      </p:sp>
    </p:spTree>
    <p:extLst>
      <p:ext uri="{BB962C8B-B14F-4D97-AF65-F5344CB8AC3E}">
        <p14:creationId xmlns:p14="http://schemas.microsoft.com/office/powerpoint/2010/main" val="12432440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74565-49D4-0DFF-D489-C1DDD29C04F6}"/>
              </a:ext>
            </a:extLst>
          </p:cNvPr>
          <p:cNvSpPr>
            <a:spLocks noGrp="1"/>
          </p:cNvSpPr>
          <p:nvPr>
            <p:ph type="title"/>
          </p:nvPr>
        </p:nvSpPr>
        <p:spPr>
          <a:xfrm>
            <a:off x="838200" y="365125"/>
            <a:ext cx="10515600" cy="1037547"/>
          </a:xfrm>
        </p:spPr>
        <p:txBody>
          <a:bodyPr>
            <a:normAutofit fontScale="90000"/>
          </a:bodyPr>
          <a:lstStyle/>
          <a:p>
            <a:r>
              <a:rPr lang="en-US" dirty="0"/>
              <a:t>HOW GIT STORES INFORMATION ABOUT CHANGES</a:t>
            </a:r>
            <a:endParaRPr lang="en-IN" dirty="0"/>
          </a:p>
        </p:txBody>
      </p:sp>
      <p:sp>
        <p:nvSpPr>
          <p:cNvPr id="3" name="Content Placeholder 2">
            <a:extLst>
              <a:ext uri="{FF2B5EF4-FFF2-40B4-BE49-F238E27FC236}">
                <a16:creationId xmlns:a16="http://schemas.microsoft.com/office/drawing/2014/main" id="{52791E52-1BBD-57C1-3E64-EC8DA46EA0DE}"/>
              </a:ext>
            </a:extLst>
          </p:cNvPr>
          <p:cNvSpPr>
            <a:spLocks noGrp="1"/>
          </p:cNvSpPr>
          <p:nvPr>
            <p:ph idx="1"/>
          </p:nvPr>
        </p:nvSpPr>
        <p:spPr/>
        <p:txBody>
          <a:bodyPr/>
          <a:lstStyle/>
          <a:p>
            <a:r>
              <a:rPr lang="en-US" b="1" dirty="0"/>
              <a:t>Repository</a:t>
            </a:r>
            <a:r>
              <a:rPr lang="en-US" dirty="0"/>
              <a:t> is used to contain a project. Git allows users to store several different repositories and track each one independently. Throughout development, the project has several save points, called </a:t>
            </a:r>
            <a:r>
              <a:rPr lang="en-US" b="1" dirty="0"/>
              <a:t>commits</a:t>
            </a:r>
            <a:r>
              <a:rPr lang="en-US" dirty="0"/>
              <a:t>. The commit history contains all the commits, i.e., changes implemented in the project during development. A commit allows you to roll back or fast forward the code to any commit in the commit history. </a:t>
            </a:r>
          </a:p>
          <a:p>
            <a:r>
              <a:rPr lang="en-US" dirty="0"/>
              <a:t>Git uses SHA-1 hashes to refer to the commits. Each unique hash points to a particular commit in the repository. Using hashes, Git creates a tree-like structure to store and retrieve data easily.</a:t>
            </a:r>
            <a:endParaRPr lang="en-IN" dirty="0"/>
          </a:p>
        </p:txBody>
      </p:sp>
    </p:spTree>
    <p:extLst>
      <p:ext uri="{BB962C8B-B14F-4D97-AF65-F5344CB8AC3E}">
        <p14:creationId xmlns:p14="http://schemas.microsoft.com/office/powerpoint/2010/main" val="9186178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F3E58-BA58-40BC-4BDF-A9FE7B127E91}"/>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C9C1F6C6-F993-A6B6-9B41-803BC9E90DD2}"/>
              </a:ext>
            </a:extLst>
          </p:cNvPr>
          <p:cNvSpPr>
            <a:spLocks noGrp="1"/>
          </p:cNvSpPr>
          <p:nvPr>
            <p:ph idx="1"/>
          </p:nvPr>
        </p:nvSpPr>
        <p:spPr/>
        <p:txBody>
          <a:bodyPr>
            <a:normAutofit lnSpcReduction="10000"/>
          </a:bodyPr>
          <a:lstStyle/>
          <a:p>
            <a:pPr marL="0" indent="0">
              <a:buNone/>
            </a:pPr>
            <a:r>
              <a:rPr lang="en-US" dirty="0"/>
              <a:t>The files in each Git project go through several stages: </a:t>
            </a:r>
          </a:p>
          <a:p>
            <a:r>
              <a:rPr lang="en-US" dirty="0"/>
              <a:t> Working directory. Modified files, </a:t>
            </a:r>
          </a:p>
          <a:p>
            <a:pPr marL="0" indent="0">
              <a:buNone/>
            </a:pPr>
            <a:r>
              <a:rPr lang="en-US" dirty="0"/>
              <a:t>but untracked and not yet ready for </a:t>
            </a:r>
          </a:p>
          <a:p>
            <a:pPr marL="0" indent="0">
              <a:buNone/>
            </a:pPr>
            <a:r>
              <a:rPr lang="en-US" dirty="0"/>
              <a:t>commit. </a:t>
            </a:r>
          </a:p>
          <a:p>
            <a:r>
              <a:rPr lang="en-US" dirty="0"/>
              <a:t>Staging directory. Adding modified files</a:t>
            </a:r>
          </a:p>
          <a:p>
            <a:pPr marL="0" indent="0">
              <a:buNone/>
            </a:pPr>
            <a:r>
              <a:rPr lang="en-US" dirty="0"/>
              <a:t> to the staging environment means they </a:t>
            </a:r>
          </a:p>
          <a:p>
            <a:pPr marL="0" indent="0">
              <a:buNone/>
            </a:pPr>
            <a:r>
              <a:rPr lang="en-US" dirty="0"/>
              <a:t>are ready for commit. </a:t>
            </a:r>
          </a:p>
          <a:p>
            <a:r>
              <a:rPr lang="en-US" dirty="0"/>
              <a:t>Committed. Snapshots of files from the </a:t>
            </a:r>
          </a:p>
          <a:p>
            <a:pPr marL="0" indent="0">
              <a:buNone/>
            </a:pPr>
            <a:r>
              <a:rPr lang="en-US" dirty="0"/>
              <a:t>staging area saved in the commit history.</a:t>
            </a:r>
            <a:endParaRPr lang="en-IN" dirty="0"/>
          </a:p>
        </p:txBody>
      </p:sp>
      <p:pic>
        <p:nvPicPr>
          <p:cNvPr id="5" name="Picture 4">
            <a:extLst>
              <a:ext uri="{FF2B5EF4-FFF2-40B4-BE49-F238E27FC236}">
                <a16:creationId xmlns:a16="http://schemas.microsoft.com/office/drawing/2014/main" id="{3F988A13-99BD-6B7C-4F41-68373CB3C297}"/>
              </a:ext>
            </a:extLst>
          </p:cNvPr>
          <p:cNvPicPr>
            <a:picLocks noChangeAspect="1"/>
          </p:cNvPicPr>
          <p:nvPr/>
        </p:nvPicPr>
        <p:blipFill>
          <a:blip r:embed="rId2"/>
          <a:stretch>
            <a:fillRect/>
          </a:stretch>
        </p:blipFill>
        <p:spPr>
          <a:xfrm>
            <a:off x="6981486" y="2333391"/>
            <a:ext cx="4816257" cy="3673158"/>
          </a:xfrm>
          <a:prstGeom prst="rect">
            <a:avLst/>
          </a:prstGeom>
        </p:spPr>
      </p:pic>
    </p:spTree>
    <p:extLst>
      <p:ext uri="{BB962C8B-B14F-4D97-AF65-F5344CB8AC3E}">
        <p14:creationId xmlns:p14="http://schemas.microsoft.com/office/powerpoint/2010/main" val="4270984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9165F-C8DB-D315-C016-2E3DFD0C82CC}"/>
              </a:ext>
            </a:extLst>
          </p:cNvPr>
          <p:cNvSpPr>
            <a:spLocks noGrp="1"/>
          </p:cNvSpPr>
          <p:nvPr>
            <p:ph type="title"/>
          </p:nvPr>
        </p:nvSpPr>
        <p:spPr/>
        <p:txBody>
          <a:bodyPr/>
          <a:lstStyle/>
          <a:p>
            <a:r>
              <a:rPr lang="en-US" dirty="0"/>
              <a:t>Files</a:t>
            </a:r>
            <a:endParaRPr lang="en-IN" dirty="0"/>
          </a:p>
        </p:txBody>
      </p:sp>
      <p:sp>
        <p:nvSpPr>
          <p:cNvPr id="3" name="Content Placeholder 2">
            <a:extLst>
              <a:ext uri="{FF2B5EF4-FFF2-40B4-BE49-F238E27FC236}">
                <a16:creationId xmlns:a16="http://schemas.microsoft.com/office/drawing/2014/main" id="{8619A616-7DF6-D4D8-1948-917345A0A000}"/>
              </a:ext>
            </a:extLst>
          </p:cNvPr>
          <p:cNvSpPr>
            <a:spLocks noGrp="1"/>
          </p:cNvSpPr>
          <p:nvPr>
            <p:ph idx="1"/>
          </p:nvPr>
        </p:nvSpPr>
        <p:spPr/>
        <p:txBody>
          <a:bodyPr/>
          <a:lstStyle/>
          <a:p>
            <a:pPr marL="0" indent="0">
              <a:buNone/>
            </a:pPr>
            <a:r>
              <a:rPr lang="en-US" dirty="0"/>
              <a:t>Git sees every file in your working copy as one of three things: </a:t>
            </a:r>
          </a:p>
          <a:p>
            <a:r>
              <a:rPr lang="en-US" dirty="0"/>
              <a:t>tracked - a file which has been previously staged or committed; </a:t>
            </a:r>
          </a:p>
          <a:p>
            <a:r>
              <a:rPr lang="en-US" dirty="0"/>
              <a:t>untracked - a file which has not been staged or committed; </a:t>
            </a:r>
          </a:p>
          <a:p>
            <a:r>
              <a:rPr lang="en-US" dirty="0"/>
              <a:t>ignored - a file which Git has been explicitly told to ignore.</a:t>
            </a:r>
            <a:endParaRPr lang="en-IN" dirty="0"/>
          </a:p>
        </p:txBody>
      </p:sp>
    </p:spTree>
    <p:extLst>
      <p:ext uri="{BB962C8B-B14F-4D97-AF65-F5344CB8AC3E}">
        <p14:creationId xmlns:p14="http://schemas.microsoft.com/office/powerpoint/2010/main" val="2920832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273C6-6FAC-C4C4-112E-7F4530980637}"/>
              </a:ext>
            </a:extLst>
          </p:cNvPr>
          <p:cNvSpPr>
            <a:spLocks noGrp="1"/>
          </p:cNvSpPr>
          <p:nvPr>
            <p:ph type="title"/>
          </p:nvPr>
        </p:nvSpPr>
        <p:spPr/>
        <p:txBody>
          <a:bodyPr/>
          <a:lstStyle/>
          <a:p>
            <a:pPr algn="ctr"/>
            <a:r>
              <a:rPr lang="en-IN" dirty="0"/>
              <a:t>Connecting git with GitHub</a:t>
            </a:r>
          </a:p>
        </p:txBody>
      </p:sp>
      <p:sp>
        <p:nvSpPr>
          <p:cNvPr id="3" name="Content Placeholder 2">
            <a:extLst>
              <a:ext uri="{FF2B5EF4-FFF2-40B4-BE49-F238E27FC236}">
                <a16:creationId xmlns:a16="http://schemas.microsoft.com/office/drawing/2014/main" id="{C3C30793-44F0-EAE4-1CD8-51702DAA844C}"/>
              </a:ext>
            </a:extLst>
          </p:cNvPr>
          <p:cNvSpPr>
            <a:spLocks noGrp="1"/>
          </p:cNvSpPr>
          <p:nvPr>
            <p:ph idx="1"/>
          </p:nvPr>
        </p:nvSpPr>
        <p:spPr/>
        <p:txBody>
          <a:bodyPr/>
          <a:lstStyle/>
          <a:p>
            <a:r>
              <a:rPr lang="en-US" dirty="0"/>
              <a:t>In order to prevent having to enter your password each time you push up to </a:t>
            </a:r>
            <a:r>
              <a:rPr lang="en-US" dirty="0" err="1"/>
              <a:t>Github</a:t>
            </a:r>
            <a:r>
              <a:rPr lang="en-US" dirty="0"/>
              <a:t>, you must configure git and </a:t>
            </a:r>
            <a:r>
              <a:rPr lang="en-US" dirty="0" err="1"/>
              <a:t>Github</a:t>
            </a:r>
            <a:r>
              <a:rPr lang="en-US" dirty="0"/>
              <a:t> to recognize Secured Shell (SSH) keys that you generate. </a:t>
            </a:r>
          </a:p>
          <a:p>
            <a:r>
              <a:rPr lang="en-US" dirty="0"/>
              <a:t>To check and see if you have any recognized SSH keys active on </a:t>
            </a:r>
            <a:r>
              <a:rPr lang="en-US" dirty="0" err="1"/>
              <a:t>Github</a:t>
            </a:r>
            <a:r>
              <a:rPr lang="en-US" dirty="0"/>
              <a:t>, go to </a:t>
            </a:r>
            <a:r>
              <a:rPr lang="en-US" dirty="0">
                <a:hlinkClick r:id="rId2"/>
              </a:rPr>
              <a:t>https://github.com/settings/keys</a:t>
            </a:r>
            <a:endParaRPr lang="en-US" dirty="0"/>
          </a:p>
          <a:p>
            <a:r>
              <a:rPr lang="en-US" dirty="0"/>
              <a:t>If you do not see any SSH keys listed, you do not have SSH configured with </a:t>
            </a:r>
            <a:r>
              <a:rPr lang="en-US" dirty="0" err="1"/>
              <a:t>Github</a:t>
            </a:r>
            <a:r>
              <a:rPr lang="en-US" dirty="0"/>
              <a:t>.</a:t>
            </a:r>
            <a:endParaRPr lang="en-IN" dirty="0"/>
          </a:p>
        </p:txBody>
      </p:sp>
    </p:spTree>
    <p:extLst>
      <p:ext uri="{BB962C8B-B14F-4D97-AF65-F5344CB8AC3E}">
        <p14:creationId xmlns:p14="http://schemas.microsoft.com/office/powerpoint/2010/main" val="14510792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9579E-2BBC-14B6-7F13-52A272270FB7}"/>
              </a:ext>
            </a:extLst>
          </p:cNvPr>
          <p:cNvSpPr>
            <a:spLocks noGrp="1"/>
          </p:cNvSpPr>
          <p:nvPr>
            <p:ph type="title"/>
          </p:nvPr>
        </p:nvSpPr>
        <p:spPr/>
        <p:txBody>
          <a:bodyPr/>
          <a:lstStyle/>
          <a:p>
            <a:pPr algn="ctr"/>
            <a:r>
              <a:rPr lang="en-IN" dirty="0"/>
              <a:t>Creating a Git repo</a:t>
            </a:r>
          </a:p>
        </p:txBody>
      </p:sp>
      <p:sp>
        <p:nvSpPr>
          <p:cNvPr id="3" name="Content Placeholder 2">
            <a:extLst>
              <a:ext uri="{FF2B5EF4-FFF2-40B4-BE49-F238E27FC236}">
                <a16:creationId xmlns:a16="http://schemas.microsoft.com/office/drawing/2014/main" id="{360E83A9-118E-FBA4-5A65-B2811561EB2D}"/>
              </a:ext>
            </a:extLst>
          </p:cNvPr>
          <p:cNvSpPr>
            <a:spLocks noGrp="1"/>
          </p:cNvSpPr>
          <p:nvPr>
            <p:ph idx="1"/>
          </p:nvPr>
        </p:nvSpPr>
        <p:spPr/>
        <p:txBody>
          <a:bodyPr/>
          <a:lstStyle/>
          <a:p>
            <a:pPr marL="0" indent="0">
              <a:buNone/>
            </a:pPr>
            <a:r>
              <a:rPr lang="en-US" b="1" dirty="0"/>
              <a:t>2 Ways</a:t>
            </a:r>
          </a:p>
          <a:p>
            <a:pPr marL="514350" indent="-514350">
              <a:buAutoNum type="arabicPeriod"/>
            </a:pPr>
            <a:r>
              <a:rPr lang="en-US" dirty="0"/>
              <a:t>To create a new local Git repo in your current directory: </a:t>
            </a:r>
          </a:p>
          <a:p>
            <a:pPr marL="0" indent="0">
              <a:buNone/>
            </a:pPr>
            <a:r>
              <a:rPr lang="en-US" dirty="0"/>
              <a:t>       – git </a:t>
            </a:r>
            <a:r>
              <a:rPr lang="en-US" dirty="0" err="1"/>
              <a:t>init</a:t>
            </a:r>
            <a:r>
              <a:rPr lang="en-US" dirty="0"/>
              <a:t> </a:t>
            </a:r>
          </a:p>
          <a:p>
            <a:pPr marL="0" indent="0">
              <a:buNone/>
            </a:pPr>
            <a:r>
              <a:rPr lang="en-US" dirty="0"/>
              <a:t>	• This will create a .git directory in your current directory. </a:t>
            </a:r>
          </a:p>
          <a:p>
            <a:pPr marL="0" indent="0">
              <a:buNone/>
            </a:pPr>
            <a:r>
              <a:rPr lang="en-US" dirty="0"/>
              <a:t>	• Then you can commit files in that directory into the repo.</a:t>
            </a:r>
          </a:p>
          <a:p>
            <a:pPr marL="0" indent="0">
              <a:buNone/>
            </a:pPr>
            <a:r>
              <a:rPr lang="en-US" dirty="0"/>
              <a:t> – git add filename </a:t>
            </a:r>
          </a:p>
          <a:p>
            <a:pPr marL="0" indent="0">
              <a:buNone/>
            </a:pPr>
            <a:r>
              <a:rPr lang="en-US" dirty="0"/>
              <a:t>– git commit –m "commit message" </a:t>
            </a:r>
            <a:endParaRPr lang="en-IN" dirty="0"/>
          </a:p>
        </p:txBody>
      </p:sp>
    </p:spTree>
    <p:extLst>
      <p:ext uri="{BB962C8B-B14F-4D97-AF65-F5344CB8AC3E}">
        <p14:creationId xmlns:p14="http://schemas.microsoft.com/office/powerpoint/2010/main" val="1556934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4A5A5-D48E-C7D0-2A0B-1B954AF89767}"/>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8D9B17B-0F2C-585C-DE70-CCCB073E01B8}"/>
              </a:ext>
            </a:extLst>
          </p:cNvPr>
          <p:cNvSpPr>
            <a:spLocks noGrp="1"/>
          </p:cNvSpPr>
          <p:nvPr>
            <p:ph idx="1"/>
          </p:nvPr>
        </p:nvSpPr>
        <p:spPr/>
        <p:txBody>
          <a:bodyPr/>
          <a:lstStyle/>
          <a:p>
            <a:pPr marL="0" indent="0">
              <a:buNone/>
            </a:pPr>
            <a:r>
              <a:rPr lang="en-US" dirty="0"/>
              <a:t>2. To clone a remote repo to your current directory: </a:t>
            </a:r>
          </a:p>
          <a:p>
            <a:pPr marL="0" indent="0">
              <a:buNone/>
            </a:pPr>
            <a:r>
              <a:rPr lang="en-US" dirty="0"/>
              <a:t>– git clone </a:t>
            </a:r>
            <a:r>
              <a:rPr lang="en-US" dirty="0" err="1"/>
              <a:t>url</a:t>
            </a:r>
            <a:r>
              <a:rPr lang="en-US" dirty="0"/>
              <a:t> </a:t>
            </a:r>
            <a:r>
              <a:rPr lang="en-US" dirty="0" err="1"/>
              <a:t>localDirectoryName</a:t>
            </a:r>
            <a:r>
              <a:rPr lang="en-US" dirty="0"/>
              <a:t> </a:t>
            </a:r>
          </a:p>
          <a:p>
            <a:pPr marL="0" indent="0">
              <a:buNone/>
            </a:pPr>
            <a:r>
              <a:rPr lang="en-US" dirty="0"/>
              <a:t>	• This will create the given local directory, containing a working copy of the files from the repo, and a .git directory (used to hold the staging area and your actual local repo) </a:t>
            </a:r>
            <a:endParaRPr lang="en-IN" dirty="0"/>
          </a:p>
        </p:txBody>
      </p:sp>
    </p:spTree>
    <p:extLst>
      <p:ext uri="{BB962C8B-B14F-4D97-AF65-F5344CB8AC3E}">
        <p14:creationId xmlns:p14="http://schemas.microsoft.com/office/powerpoint/2010/main" val="29188643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F21F3-2DEC-5F41-BC62-8C75E06DB685}"/>
              </a:ext>
            </a:extLst>
          </p:cNvPr>
          <p:cNvSpPr>
            <a:spLocks noGrp="1"/>
          </p:cNvSpPr>
          <p:nvPr>
            <p:ph type="title"/>
          </p:nvPr>
        </p:nvSpPr>
        <p:spPr/>
        <p:txBody>
          <a:bodyPr/>
          <a:lstStyle/>
          <a:p>
            <a:r>
              <a:rPr lang="en-US" dirty="0"/>
              <a:t>Git Commands</a:t>
            </a:r>
            <a:endParaRPr lang="en-IN" dirty="0"/>
          </a:p>
        </p:txBody>
      </p:sp>
      <p:graphicFrame>
        <p:nvGraphicFramePr>
          <p:cNvPr id="5" name="Table 5">
            <a:extLst>
              <a:ext uri="{FF2B5EF4-FFF2-40B4-BE49-F238E27FC236}">
                <a16:creationId xmlns:a16="http://schemas.microsoft.com/office/drawing/2014/main" id="{A7C10CB5-E62F-7EC7-46B2-E562C792FD3C}"/>
              </a:ext>
            </a:extLst>
          </p:cNvPr>
          <p:cNvGraphicFramePr>
            <a:graphicFrameLocks noGrp="1"/>
          </p:cNvGraphicFramePr>
          <p:nvPr>
            <p:ph idx="1"/>
            <p:extLst>
              <p:ext uri="{D42A27DB-BD31-4B8C-83A1-F6EECF244321}">
                <p14:modId xmlns:p14="http://schemas.microsoft.com/office/powerpoint/2010/main" val="2978168691"/>
              </p:ext>
            </p:extLst>
          </p:nvPr>
        </p:nvGraphicFramePr>
        <p:xfrm>
          <a:off x="838200" y="1825625"/>
          <a:ext cx="10515600" cy="4780280"/>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1626023988"/>
                    </a:ext>
                  </a:extLst>
                </a:gridCol>
                <a:gridCol w="5257800">
                  <a:extLst>
                    <a:ext uri="{9D8B030D-6E8A-4147-A177-3AD203B41FA5}">
                      <a16:colId xmlns:a16="http://schemas.microsoft.com/office/drawing/2014/main" val="3255213408"/>
                    </a:ext>
                  </a:extLst>
                </a:gridCol>
              </a:tblGrid>
              <a:tr h="370840">
                <a:tc>
                  <a:txBody>
                    <a:bodyPr/>
                    <a:lstStyle/>
                    <a:p>
                      <a:r>
                        <a:rPr lang="en-IN" dirty="0"/>
                        <a:t>command </a:t>
                      </a:r>
                    </a:p>
                  </a:txBody>
                  <a:tcPr/>
                </a:tc>
                <a:tc>
                  <a:txBody>
                    <a:bodyPr/>
                    <a:lstStyle/>
                    <a:p>
                      <a:r>
                        <a:rPr lang="en-IN" dirty="0"/>
                        <a:t>description </a:t>
                      </a:r>
                    </a:p>
                  </a:txBody>
                  <a:tcPr/>
                </a:tc>
                <a:extLst>
                  <a:ext uri="{0D108BD9-81ED-4DB2-BD59-A6C34878D82A}">
                    <a16:rowId xmlns:a16="http://schemas.microsoft.com/office/drawing/2014/main" val="4075455941"/>
                  </a:ext>
                </a:extLst>
              </a:tr>
              <a:tr h="370840">
                <a:tc>
                  <a:txBody>
                    <a:bodyPr/>
                    <a:lstStyle/>
                    <a:p>
                      <a:r>
                        <a:rPr lang="en-IN" dirty="0"/>
                        <a:t>git clone </a:t>
                      </a:r>
                      <a:r>
                        <a:rPr lang="en-IN" dirty="0" err="1"/>
                        <a:t>url</a:t>
                      </a:r>
                      <a:r>
                        <a:rPr lang="en-IN" dirty="0"/>
                        <a:t> [</a:t>
                      </a:r>
                      <a:r>
                        <a:rPr lang="en-IN" dirty="0" err="1"/>
                        <a:t>dir</a:t>
                      </a:r>
                      <a:r>
                        <a:rPr lang="en-IN" dirty="0"/>
                        <a:t>]</a:t>
                      </a:r>
                    </a:p>
                  </a:txBody>
                  <a:tcPr/>
                </a:tc>
                <a:tc>
                  <a:txBody>
                    <a:bodyPr/>
                    <a:lstStyle/>
                    <a:p>
                      <a:r>
                        <a:rPr lang="en-US" dirty="0"/>
                        <a:t>copy a Git repository so you can add to it</a:t>
                      </a:r>
                      <a:endParaRPr lang="en-IN" dirty="0"/>
                    </a:p>
                  </a:txBody>
                  <a:tcPr/>
                </a:tc>
                <a:extLst>
                  <a:ext uri="{0D108BD9-81ED-4DB2-BD59-A6C34878D82A}">
                    <a16:rowId xmlns:a16="http://schemas.microsoft.com/office/drawing/2014/main" val="147386512"/>
                  </a:ext>
                </a:extLst>
              </a:tr>
              <a:tr h="370840">
                <a:tc>
                  <a:txBody>
                    <a:bodyPr/>
                    <a:lstStyle/>
                    <a:p>
                      <a:r>
                        <a:rPr lang="en-IN" dirty="0"/>
                        <a:t>git add file</a:t>
                      </a:r>
                    </a:p>
                  </a:txBody>
                  <a:tcPr/>
                </a:tc>
                <a:tc>
                  <a:txBody>
                    <a:bodyPr/>
                    <a:lstStyle/>
                    <a:p>
                      <a:r>
                        <a:rPr lang="en-US" dirty="0"/>
                        <a:t>adds file contents to the staging area</a:t>
                      </a:r>
                      <a:endParaRPr lang="en-IN" dirty="0"/>
                    </a:p>
                  </a:txBody>
                  <a:tcPr/>
                </a:tc>
                <a:extLst>
                  <a:ext uri="{0D108BD9-81ED-4DB2-BD59-A6C34878D82A}">
                    <a16:rowId xmlns:a16="http://schemas.microsoft.com/office/drawing/2014/main" val="2858173587"/>
                  </a:ext>
                </a:extLst>
              </a:tr>
              <a:tr h="370840">
                <a:tc>
                  <a:txBody>
                    <a:bodyPr/>
                    <a:lstStyle/>
                    <a:p>
                      <a:r>
                        <a:rPr lang="en-IN" dirty="0"/>
                        <a:t>git commit </a:t>
                      </a:r>
                    </a:p>
                  </a:txBody>
                  <a:tcPr/>
                </a:tc>
                <a:tc>
                  <a:txBody>
                    <a:bodyPr/>
                    <a:lstStyle/>
                    <a:p>
                      <a:r>
                        <a:rPr lang="en-US" dirty="0"/>
                        <a:t>records a snapshot of the staging area</a:t>
                      </a:r>
                      <a:endParaRPr lang="en-IN" dirty="0"/>
                    </a:p>
                  </a:txBody>
                  <a:tcPr/>
                </a:tc>
                <a:extLst>
                  <a:ext uri="{0D108BD9-81ED-4DB2-BD59-A6C34878D82A}">
                    <a16:rowId xmlns:a16="http://schemas.microsoft.com/office/drawing/2014/main" val="163881190"/>
                  </a:ext>
                </a:extLst>
              </a:tr>
              <a:tr h="370840">
                <a:tc>
                  <a:txBody>
                    <a:bodyPr/>
                    <a:lstStyle/>
                    <a:p>
                      <a:r>
                        <a:rPr lang="en-IN" dirty="0"/>
                        <a:t>git status </a:t>
                      </a:r>
                    </a:p>
                  </a:txBody>
                  <a:tcPr/>
                </a:tc>
                <a:tc>
                  <a:txBody>
                    <a:bodyPr/>
                    <a:lstStyle/>
                    <a:p>
                      <a:r>
                        <a:rPr lang="en-US" dirty="0"/>
                        <a:t>view the status of your files in the working directory and staging area</a:t>
                      </a:r>
                      <a:endParaRPr lang="en-IN" dirty="0"/>
                    </a:p>
                  </a:txBody>
                  <a:tcPr/>
                </a:tc>
                <a:extLst>
                  <a:ext uri="{0D108BD9-81ED-4DB2-BD59-A6C34878D82A}">
                    <a16:rowId xmlns:a16="http://schemas.microsoft.com/office/drawing/2014/main" val="798578941"/>
                  </a:ext>
                </a:extLst>
              </a:tr>
              <a:tr h="370840">
                <a:tc>
                  <a:txBody>
                    <a:bodyPr/>
                    <a:lstStyle/>
                    <a:p>
                      <a:r>
                        <a:rPr lang="en-IN" dirty="0"/>
                        <a:t>git diff</a:t>
                      </a:r>
                    </a:p>
                  </a:txBody>
                  <a:tcPr/>
                </a:tc>
                <a:tc>
                  <a:txBody>
                    <a:bodyPr/>
                    <a:lstStyle/>
                    <a:p>
                      <a:r>
                        <a:rPr lang="en-US" dirty="0"/>
                        <a:t>shows diff of what is staged and what is modified but </a:t>
                      </a:r>
                      <a:r>
                        <a:rPr lang="en-US" dirty="0" err="1"/>
                        <a:t>unstaged</a:t>
                      </a:r>
                      <a:r>
                        <a:rPr lang="en-US" dirty="0"/>
                        <a:t> </a:t>
                      </a:r>
                      <a:endParaRPr lang="en-IN" dirty="0"/>
                    </a:p>
                  </a:txBody>
                  <a:tcPr/>
                </a:tc>
                <a:extLst>
                  <a:ext uri="{0D108BD9-81ED-4DB2-BD59-A6C34878D82A}">
                    <a16:rowId xmlns:a16="http://schemas.microsoft.com/office/drawing/2014/main" val="4129065093"/>
                  </a:ext>
                </a:extLst>
              </a:tr>
              <a:tr h="370840">
                <a:tc>
                  <a:txBody>
                    <a:bodyPr/>
                    <a:lstStyle/>
                    <a:p>
                      <a:r>
                        <a:rPr lang="en-IN" dirty="0"/>
                        <a:t>git help [command]</a:t>
                      </a:r>
                    </a:p>
                  </a:txBody>
                  <a:tcPr/>
                </a:tc>
                <a:tc>
                  <a:txBody>
                    <a:bodyPr/>
                    <a:lstStyle/>
                    <a:p>
                      <a:r>
                        <a:rPr lang="en-US" dirty="0"/>
                        <a:t>get help info about a particular command </a:t>
                      </a:r>
                      <a:endParaRPr lang="en-IN" dirty="0"/>
                    </a:p>
                  </a:txBody>
                  <a:tcPr/>
                </a:tc>
                <a:extLst>
                  <a:ext uri="{0D108BD9-81ED-4DB2-BD59-A6C34878D82A}">
                    <a16:rowId xmlns:a16="http://schemas.microsoft.com/office/drawing/2014/main" val="2568447005"/>
                  </a:ext>
                </a:extLst>
              </a:tr>
              <a:tr h="206819">
                <a:tc>
                  <a:txBody>
                    <a:bodyPr/>
                    <a:lstStyle/>
                    <a:p>
                      <a:r>
                        <a:rPr lang="en-IN" dirty="0"/>
                        <a:t>git pull</a:t>
                      </a:r>
                    </a:p>
                  </a:txBody>
                  <a:tcPr/>
                </a:tc>
                <a:tc>
                  <a:txBody>
                    <a:bodyPr/>
                    <a:lstStyle/>
                    <a:p>
                      <a:r>
                        <a:rPr lang="en-US" dirty="0"/>
                        <a:t>fetch from a remote repo and try to merge into the current branch</a:t>
                      </a:r>
                    </a:p>
                  </a:txBody>
                  <a:tcPr/>
                </a:tc>
                <a:extLst>
                  <a:ext uri="{0D108BD9-81ED-4DB2-BD59-A6C34878D82A}">
                    <a16:rowId xmlns:a16="http://schemas.microsoft.com/office/drawing/2014/main" val="582065027"/>
                  </a:ext>
                </a:extLst>
              </a:tr>
              <a:tr h="206819">
                <a:tc>
                  <a:txBody>
                    <a:bodyPr/>
                    <a:lstStyle/>
                    <a:p>
                      <a:r>
                        <a:rPr lang="en-IN" dirty="0"/>
                        <a:t>git push</a:t>
                      </a:r>
                    </a:p>
                  </a:txBody>
                  <a:tcPr/>
                </a:tc>
                <a:tc>
                  <a:txBody>
                    <a:bodyPr/>
                    <a:lstStyle/>
                    <a:p>
                      <a:r>
                        <a:rPr lang="en-US" dirty="0"/>
                        <a:t>push your new branches and data to a remote repository</a:t>
                      </a:r>
                    </a:p>
                  </a:txBody>
                  <a:tcPr/>
                </a:tc>
                <a:extLst>
                  <a:ext uri="{0D108BD9-81ED-4DB2-BD59-A6C34878D82A}">
                    <a16:rowId xmlns:a16="http://schemas.microsoft.com/office/drawing/2014/main" val="340983992"/>
                  </a:ext>
                </a:extLst>
              </a:tr>
              <a:tr h="206819">
                <a:tc gridSpan="2">
                  <a:txBody>
                    <a:bodyPr/>
                    <a:lstStyle/>
                    <a:p>
                      <a:r>
                        <a:rPr lang="en-IN" dirty="0"/>
                        <a:t>others: </a:t>
                      </a:r>
                      <a:r>
                        <a:rPr lang="en-IN" dirty="0" err="1"/>
                        <a:t>init</a:t>
                      </a:r>
                      <a:r>
                        <a:rPr lang="en-IN" dirty="0"/>
                        <a:t>, reset, branch, checkout, merge, log, tag </a:t>
                      </a:r>
                    </a:p>
                  </a:txBody>
                  <a:tcPr/>
                </a:tc>
                <a:tc hMerge="1">
                  <a:txBody>
                    <a:bodyPr/>
                    <a:lstStyle/>
                    <a:p>
                      <a:endParaRPr lang="en-US" dirty="0"/>
                    </a:p>
                  </a:txBody>
                  <a:tcPr/>
                </a:tc>
                <a:extLst>
                  <a:ext uri="{0D108BD9-81ED-4DB2-BD59-A6C34878D82A}">
                    <a16:rowId xmlns:a16="http://schemas.microsoft.com/office/drawing/2014/main" val="108222068"/>
                  </a:ext>
                </a:extLst>
              </a:tr>
            </a:tbl>
          </a:graphicData>
        </a:graphic>
      </p:graphicFrame>
    </p:spTree>
    <p:extLst>
      <p:ext uri="{BB962C8B-B14F-4D97-AF65-F5344CB8AC3E}">
        <p14:creationId xmlns:p14="http://schemas.microsoft.com/office/powerpoint/2010/main" val="37593965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DB88E4-6A64-3B97-3717-8E53F03453AE}"/>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FC3B33B0-01A6-A5BC-34DB-2D942C6DCD67}"/>
              </a:ext>
            </a:extLst>
          </p:cNvPr>
          <p:cNvPicPr>
            <a:picLocks noGrp="1" noChangeAspect="1"/>
          </p:cNvPicPr>
          <p:nvPr>
            <p:ph idx="1"/>
          </p:nvPr>
        </p:nvPicPr>
        <p:blipFill>
          <a:blip r:embed="rId2"/>
          <a:stretch>
            <a:fillRect/>
          </a:stretch>
        </p:blipFill>
        <p:spPr>
          <a:xfrm>
            <a:off x="3002012" y="2618144"/>
            <a:ext cx="6187976" cy="2766300"/>
          </a:xfrm>
        </p:spPr>
      </p:pic>
    </p:spTree>
    <p:extLst>
      <p:ext uri="{BB962C8B-B14F-4D97-AF65-F5344CB8AC3E}">
        <p14:creationId xmlns:p14="http://schemas.microsoft.com/office/powerpoint/2010/main" val="3703712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57B2E-4C39-5507-76E6-C1D02BAD6E64}"/>
              </a:ext>
            </a:extLst>
          </p:cNvPr>
          <p:cNvSpPr>
            <a:spLocks noGrp="1"/>
          </p:cNvSpPr>
          <p:nvPr>
            <p:ph type="title"/>
          </p:nvPr>
        </p:nvSpPr>
        <p:spPr/>
        <p:txBody>
          <a:bodyPr/>
          <a:lstStyle/>
          <a:p>
            <a:r>
              <a:rPr lang="en-IN" dirty="0"/>
              <a:t>GIT RESET</a:t>
            </a:r>
          </a:p>
        </p:txBody>
      </p:sp>
      <p:sp>
        <p:nvSpPr>
          <p:cNvPr id="3" name="Content Placeholder 2">
            <a:extLst>
              <a:ext uri="{FF2B5EF4-FFF2-40B4-BE49-F238E27FC236}">
                <a16:creationId xmlns:a16="http://schemas.microsoft.com/office/drawing/2014/main" id="{03E4AB05-400A-4DB7-0B80-5B132C402445}"/>
              </a:ext>
            </a:extLst>
          </p:cNvPr>
          <p:cNvSpPr>
            <a:spLocks noGrp="1"/>
          </p:cNvSpPr>
          <p:nvPr>
            <p:ph idx="1"/>
          </p:nvPr>
        </p:nvSpPr>
        <p:spPr/>
        <p:txBody>
          <a:bodyPr/>
          <a:lstStyle/>
          <a:p>
            <a:r>
              <a:rPr lang="en-US" dirty="0"/>
              <a:t>The git reset command is a complex and versatile tool for undoing changes. It has three primary forms of invocation. These forms correspond to command line arguments --soft, - -mixed, --hard. The three arguments each correspond to Git's three internal state management mechanism's, The Commit Tree (HEAD), The Staging Index, and The Working Directory</a:t>
            </a:r>
            <a:endParaRPr lang="en-IN" dirty="0"/>
          </a:p>
        </p:txBody>
      </p:sp>
      <p:pic>
        <p:nvPicPr>
          <p:cNvPr id="5" name="Picture 4">
            <a:extLst>
              <a:ext uri="{FF2B5EF4-FFF2-40B4-BE49-F238E27FC236}">
                <a16:creationId xmlns:a16="http://schemas.microsoft.com/office/drawing/2014/main" id="{A203A583-64EA-04D2-8C84-0A16DE203314}"/>
              </a:ext>
            </a:extLst>
          </p:cNvPr>
          <p:cNvPicPr>
            <a:picLocks noChangeAspect="1"/>
          </p:cNvPicPr>
          <p:nvPr/>
        </p:nvPicPr>
        <p:blipFill>
          <a:blip r:embed="rId2"/>
          <a:stretch>
            <a:fillRect/>
          </a:stretch>
        </p:blipFill>
        <p:spPr>
          <a:xfrm>
            <a:off x="6004943" y="4130470"/>
            <a:ext cx="4816257" cy="2362405"/>
          </a:xfrm>
          <a:prstGeom prst="rect">
            <a:avLst/>
          </a:prstGeom>
        </p:spPr>
      </p:pic>
    </p:spTree>
    <p:extLst>
      <p:ext uri="{BB962C8B-B14F-4D97-AF65-F5344CB8AC3E}">
        <p14:creationId xmlns:p14="http://schemas.microsoft.com/office/powerpoint/2010/main" val="29180762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40232-07E4-4578-4C45-7FDBE81337C5}"/>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4F2A98A2-EE98-0C6A-9D39-489C61BEF8C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30267" y="221942"/>
            <a:ext cx="6787100" cy="6811647"/>
          </a:xfrm>
        </p:spPr>
      </p:pic>
    </p:spTree>
    <p:extLst>
      <p:ext uri="{BB962C8B-B14F-4D97-AF65-F5344CB8AC3E}">
        <p14:creationId xmlns:p14="http://schemas.microsoft.com/office/powerpoint/2010/main" val="12228116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E91AF-44C7-6A28-4C2E-0C44E6B0B08B}"/>
              </a:ext>
            </a:extLst>
          </p:cNvPr>
          <p:cNvSpPr>
            <a:spLocks noGrp="1"/>
          </p:cNvSpPr>
          <p:nvPr>
            <p:ph type="title"/>
          </p:nvPr>
        </p:nvSpPr>
        <p:spPr/>
        <p:txBody>
          <a:bodyPr/>
          <a:lstStyle/>
          <a:p>
            <a:r>
              <a:rPr lang="en-US" dirty="0"/>
              <a:t>Resources</a:t>
            </a:r>
            <a:endParaRPr lang="en-IN" dirty="0"/>
          </a:p>
        </p:txBody>
      </p:sp>
      <p:sp>
        <p:nvSpPr>
          <p:cNvPr id="3" name="Content Placeholder 2">
            <a:extLst>
              <a:ext uri="{FF2B5EF4-FFF2-40B4-BE49-F238E27FC236}">
                <a16:creationId xmlns:a16="http://schemas.microsoft.com/office/drawing/2014/main" id="{072C6D00-D47C-6FBB-15BA-4D2402895E77}"/>
              </a:ext>
            </a:extLst>
          </p:cNvPr>
          <p:cNvSpPr>
            <a:spLocks noGrp="1"/>
          </p:cNvSpPr>
          <p:nvPr>
            <p:ph idx="1"/>
          </p:nvPr>
        </p:nvSpPr>
        <p:spPr/>
        <p:txBody>
          <a:bodyPr/>
          <a:lstStyle/>
          <a:p>
            <a:r>
              <a:rPr lang="en-IN" dirty="0"/>
              <a:t>https://git-scm.com/book/en/v2/Getting-StartedAbout-Version-Control </a:t>
            </a:r>
          </a:p>
          <a:p>
            <a:r>
              <a:rPr lang="en-IN" dirty="0"/>
              <a:t>https://about.gitlab.com/topics/version-control/ </a:t>
            </a:r>
          </a:p>
          <a:p>
            <a:r>
              <a:rPr lang="en-IN" dirty="0"/>
              <a:t>https://www.atlassian.com/git/tutorials/learn-gitwith-bitbucket-cloud </a:t>
            </a:r>
          </a:p>
          <a:p>
            <a:r>
              <a:rPr lang="en-IN"/>
              <a:t>https</a:t>
            </a:r>
            <a:r>
              <a:rPr lang="en-IN" dirty="0"/>
              <a:t>://serengetitech.com/tech/introduction-to-gitand-types-of-version-control-systems</a:t>
            </a:r>
            <a:r>
              <a:rPr lang="en-IN"/>
              <a:t>/ </a:t>
            </a:r>
          </a:p>
          <a:p>
            <a:r>
              <a:rPr lang="en-IN"/>
              <a:t>https</a:t>
            </a:r>
            <a:r>
              <a:rPr lang="en-IN" dirty="0"/>
              <a:t>://learngitbranching.js.org/ </a:t>
            </a:r>
          </a:p>
        </p:txBody>
      </p:sp>
    </p:spTree>
    <p:extLst>
      <p:ext uri="{BB962C8B-B14F-4D97-AF65-F5344CB8AC3E}">
        <p14:creationId xmlns:p14="http://schemas.microsoft.com/office/powerpoint/2010/main" val="32530282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140</TotalTime>
  <Words>1255</Words>
  <Application>Microsoft Office PowerPoint</Application>
  <PresentationFormat>Widescreen</PresentationFormat>
  <Paragraphs>95</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Office Theme</vt:lpstr>
      <vt:lpstr>Git</vt:lpstr>
      <vt:lpstr>What is Git?</vt:lpstr>
      <vt:lpstr>Main features:</vt:lpstr>
      <vt:lpstr>What is Github? </vt:lpstr>
      <vt:lpstr>LOCAL VERSION CONTROL SYSTEM</vt:lpstr>
      <vt:lpstr>Disadvantages:</vt:lpstr>
      <vt:lpstr>CENTRALIZED VERSION CONTROL SYSTEM</vt:lpstr>
      <vt:lpstr>Disadvantages</vt:lpstr>
      <vt:lpstr>DISTRIBUTED VERSION CONTROL SYSTEM</vt:lpstr>
      <vt:lpstr>Advantages</vt:lpstr>
      <vt:lpstr>HOW GIT STORES INFORMATION ABOUT CHANGES</vt:lpstr>
      <vt:lpstr>PowerPoint Presentation</vt:lpstr>
      <vt:lpstr>Files</vt:lpstr>
      <vt:lpstr>Connecting git with GitHub</vt:lpstr>
      <vt:lpstr>Creating a Git repo</vt:lpstr>
      <vt:lpstr>PowerPoint Presentation</vt:lpstr>
      <vt:lpstr>Git Commands</vt:lpstr>
      <vt:lpstr>PowerPoint Presentation</vt:lpstr>
      <vt:lpstr>GIT RESET</vt:lpstr>
      <vt:lpstr>PowerPoint Presentation</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CHP</dc:creator>
  <cp:lastModifiedBy>CHP</cp:lastModifiedBy>
  <cp:revision>23</cp:revision>
  <dcterms:created xsi:type="dcterms:W3CDTF">2023-04-03T20:57:18Z</dcterms:created>
  <dcterms:modified xsi:type="dcterms:W3CDTF">2023-04-04T14:20:17Z</dcterms:modified>
</cp:coreProperties>
</file>