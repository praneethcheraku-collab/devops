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sldIdLst>
    <p:sldId id="256" r:id="rId2"/>
    <p:sldId id="258" r:id="rId3"/>
    <p:sldId id="266" r:id="rId4"/>
    <p:sldId id="282" r:id="rId5"/>
    <p:sldId id="259" r:id="rId6"/>
    <p:sldId id="267" r:id="rId7"/>
    <p:sldId id="268" r:id="rId8"/>
    <p:sldId id="269" r:id="rId9"/>
    <p:sldId id="270" r:id="rId10"/>
    <p:sldId id="279" r:id="rId11"/>
    <p:sldId id="271" r:id="rId12"/>
    <p:sldId id="272" r:id="rId13"/>
    <p:sldId id="273" r:id="rId14"/>
    <p:sldId id="274" r:id="rId15"/>
    <p:sldId id="280" r:id="rId16"/>
    <p:sldId id="284" r:id="rId17"/>
    <p:sldId id="275" r:id="rId18"/>
    <p:sldId id="260" r:id="rId19"/>
    <p:sldId id="262" r:id="rId20"/>
    <p:sldId id="263" r:id="rId21"/>
    <p:sldId id="257" r:id="rId22"/>
    <p:sldId id="265" r:id="rId23"/>
    <p:sldId id="277" r:id="rId24"/>
    <p:sldId id="281" r:id="rId25"/>
    <p:sldId id="276" r:id="rId26"/>
    <p:sldId id="283" r:id="rId27"/>
    <p:sldId id="285" r:id="rId28"/>
    <p:sldId id="278"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74" d="100"/>
          <a:sy n="74" d="100"/>
        </p:scale>
        <p:origin x="376"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99092F-E28D-2C4E-B86C-18C868AA5FC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6EA26C2-8673-4941-3F2A-CC7553B3D75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1077EF2-8700-AACD-24B5-DA4C0CC21CBD}"/>
              </a:ext>
            </a:extLst>
          </p:cNvPr>
          <p:cNvSpPr>
            <a:spLocks noGrp="1"/>
          </p:cNvSpPr>
          <p:nvPr>
            <p:ph type="dt" sz="half" idx="10"/>
          </p:nvPr>
        </p:nvSpPr>
        <p:spPr/>
        <p:txBody>
          <a:bodyPr/>
          <a:lstStyle/>
          <a:p>
            <a:fld id="{DE87B14F-BE39-41BB-8A77-0729CFB71114}" type="datetimeFigureOut">
              <a:rPr lang="en-IN" smtClean="0"/>
              <a:t>09-01-2026</a:t>
            </a:fld>
            <a:endParaRPr lang="en-IN"/>
          </a:p>
        </p:txBody>
      </p:sp>
      <p:sp>
        <p:nvSpPr>
          <p:cNvPr id="5" name="Footer Placeholder 4">
            <a:extLst>
              <a:ext uri="{FF2B5EF4-FFF2-40B4-BE49-F238E27FC236}">
                <a16:creationId xmlns:a16="http://schemas.microsoft.com/office/drawing/2014/main" id="{331D0D91-374B-18A6-F1CA-3366DDD533F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A756889-5492-058E-F022-DF955EEC135D}"/>
              </a:ext>
            </a:extLst>
          </p:cNvPr>
          <p:cNvSpPr>
            <a:spLocks noGrp="1"/>
          </p:cNvSpPr>
          <p:nvPr>
            <p:ph type="sldNum" sz="quarter" idx="12"/>
          </p:nvPr>
        </p:nvSpPr>
        <p:spPr/>
        <p:txBody>
          <a:bodyPr/>
          <a:lstStyle/>
          <a:p>
            <a:fld id="{3739A0F6-5189-419C-9A3D-337D41F788CC}" type="slidenum">
              <a:rPr lang="en-IN" smtClean="0"/>
              <a:t>‹#›</a:t>
            </a:fld>
            <a:endParaRPr lang="en-IN"/>
          </a:p>
        </p:txBody>
      </p:sp>
    </p:spTree>
    <p:extLst>
      <p:ext uri="{BB962C8B-B14F-4D97-AF65-F5344CB8AC3E}">
        <p14:creationId xmlns:p14="http://schemas.microsoft.com/office/powerpoint/2010/main" val="21430276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E367A6-46E8-D79B-CBD6-ACC4A3FA444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65F637D-19D9-8F3A-9157-0B2F1953C24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779C00F-72B4-9735-8506-FA0F9A163795}"/>
              </a:ext>
            </a:extLst>
          </p:cNvPr>
          <p:cNvSpPr>
            <a:spLocks noGrp="1"/>
          </p:cNvSpPr>
          <p:nvPr>
            <p:ph type="dt" sz="half" idx="10"/>
          </p:nvPr>
        </p:nvSpPr>
        <p:spPr/>
        <p:txBody>
          <a:bodyPr/>
          <a:lstStyle/>
          <a:p>
            <a:fld id="{DE87B14F-BE39-41BB-8A77-0729CFB71114}" type="datetimeFigureOut">
              <a:rPr lang="en-IN" smtClean="0"/>
              <a:t>09-01-2026</a:t>
            </a:fld>
            <a:endParaRPr lang="en-IN"/>
          </a:p>
        </p:txBody>
      </p:sp>
      <p:sp>
        <p:nvSpPr>
          <p:cNvPr id="5" name="Footer Placeholder 4">
            <a:extLst>
              <a:ext uri="{FF2B5EF4-FFF2-40B4-BE49-F238E27FC236}">
                <a16:creationId xmlns:a16="http://schemas.microsoft.com/office/drawing/2014/main" id="{425CAED4-43B3-5298-5C0C-2845667BC15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9AAD11A-BCB9-DDE0-97CF-92C5B84BE31F}"/>
              </a:ext>
            </a:extLst>
          </p:cNvPr>
          <p:cNvSpPr>
            <a:spLocks noGrp="1"/>
          </p:cNvSpPr>
          <p:nvPr>
            <p:ph type="sldNum" sz="quarter" idx="12"/>
          </p:nvPr>
        </p:nvSpPr>
        <p:spPr/>
        <p:txBody>
          <a:bodyPr/>
          <a:lstStyle/>
          <a:p>
            <a:fld id="{3739A0F6-5189-419C-9A3D-337D41F788CC}" type="slidenum">
              <a:rPr lang="en-IN" smtClean="0"/>
              <a:t>‹#›</a:t>
            </a:fld>
            <a:endParaRPr lang="en-IN"/>
          </a:p>
        </p:txBody>
      </p:sp>
    </p:spTree>
    <p:extLst>
      <p:ext uri="{BB962C8B-B14F-4D97-AF65-F5344CB8AC3E}">
        <p14:creationId xmlns:p14="http://schemas.microsoft.com/office/powerpoint/2010/main" val="2297227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944777-9616-82C1-29DC-7B741F0AAA1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BDFDA61-F91A-CF1A-6613-D4DE6A48772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0BA2760-8A89-9C5B-38F4-2308E3297B5B}"/>
              </a:ext>
            </a:extLst>
          </p:cNvPr>
          <p:cNvSpPr>
            <a:spLocks noGrp="1"/>
          </p:cNvSpPr>
          <p:nvPr>
            <p:ph type="dt" sz="half" idx="10"/>
          </p:nvPr>
        </p:nvSpPr>
        <p:spPr/>
        <p:txBody>
          <a:bodyPr/>
          <a:lstStyle/>
          <a:p>
            <a:fld id="{DE87B14F-BE39-41BB-8A77-0729CFB71114}" type="datetimeFigureOut">
              <a:rPr lang="en-IN" smtClean="0"/>
              <a:t>09-01-2026</a:t>
            </a:fld>
            <a:endParaRPr lang="en-IN"/>
          </a:p>
        </p:txBody>
      </p:sp>
      <p:sp>
        <p:nvSpPr>
          <p:cNvPr id="5" name="Footer Placeholder 4">
            <a:extLst>
              <a:ext uri="{FF2B5EF4-FFF2-40B4-BE49-F238E27FC236}">
                <a16:creationId xmlns:a16="http://schemas.microsoft.com/office/drawing/2014/main" id="{B6590B35-C46D-ED8A-C49B-F8F9D906E1F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8E03F48-2F65-AE8D-9475-A25C744773B4}"/>
              </a:ext>
            </a:extLst>
          </p:cNvPr>
          <p:cNvSpPr>
            <a:spLocks noGrp="1"/>
          </p:cNvSpPr>
          <p:nvPr>
            <p:ph type="sldNum" sz="quarter" idx="12"/>
          </p:nvPr>
        </p:nvSpPr>
        <p:spPr/>
        <p:txBody>
          <a:bodyPr/>
          <a:lstStyle/>
          <a:p>
            <a:fld id="{3739A0F6-5189-419C-9A3D-337D41F788CC}" type="slidenum">
              <a:rPr lang="en-IN" smtClean="0"/>
              <a:t>‹#›</a:t>
            </a:fld>
            <a:endParaRPr lang="en-IN"/>
          </a:p>
        </p:txBody>
      </p:sp>
    </p:spTree>
    <p:extLst>
      <p:ext uri="{BB962C8B-B14F-4D97-AF65-F5344CB8AC3E}">
        <p14:creationId xmlns:p14="http://schemas.microsoft.com/office/powerpoint/2010/main" val="23998844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4362B5-69E2-3CB2-4BA7-D5344926885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FFAE83F-25CB-484D-676A-0126D922C7A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8423D2E-096A-9A0B-72A3-5722EC80C02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37410AC-D650-DFFC-EB1B-36FE71D0633D}"/>
              </a:ext>
            </a:extLst>
          </p:cNvPr>
          <p:cNvSpPr>
            <a:spLocks noGrp="1"/>
          </p:cNvSpPr>
          <p:nvPr>
            <p:ph type="dt" sz="half" idx="10"/>
          </p:nvPr>
        </p:nvSpPr>
        <p:spPr/>
        <p:txBody>
          <a:bodyPr/>
          <a:lstStyle/>
          <a:p>
            <a:fld id="{DE87B14F-BE39-41BB-8A77-0729CFB71114}" type="datetimeFigureOut">
              <a:rPr lang="en-IN" smtClean="0"/>
              <a:t>09-01-2026</a:t>
            </a:fld>
            <a:endParaRPr lang="en-IN"/>
          </a:p>
        </p:txBody>
      </p:sp>
      <p:sp>
        <p:nvSpPr>
          <p:cNvPr id="6" name="Footer Placeholder 5">
            <a:extLst>
              <a:ext uri="{FF2B5EF4-FFF2-40B4-BE49-F238E27FC236}">
                <a16:creationId xmlns:a16="http://schemas.microsoft.com/office/drawing/2014/main" id="{F95AE2B2-7FB8-207B-2350-6A61D498DDB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B3EE5D8-1E47-E33B-DB61-7272C1CC4617}"/>
              </a:ext>
            </a:extLst>
          </p:cNvPr>
          <p:cNvSpPr>
            <a:spLocks noGrp="1"/>
          </p:cNvSpPr>
          <p:nvPr>
            <p:ph type="sldNum" sz="quarter" idx="12"/>
          </p:nvPr>
        </p:nvSpPr>
        <p:spPr/>
        <p:txBody>
          <a:bodyPr/>
          <a:lstStyle/>
          <a:p>
            <a:fld id="{3739A0F6-5189-419C-9A3D-337D41F788CC}" type="slidenum">
              <a:rPr lang="en-IN" smtClean="0"/>
              <a:t>‹#›</a:t>
            </a:fld>
            <a:endParaRPr lang="en-IN"/>
          </a:p>
        </p:txBody>
      </p:sp>
    </p:spTree>
    <p:extLst>
      <p:ext uri="{BB962C8B-B14F-4D97-AF65-F5344CB8AC3E}">
        <p14:creationId xmlns:p14="http://schemas.microsoft.com/office/powerpoint/2010/main" val="37227722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5306B5-2F3F-C67E-A9B4-6661F340DC6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3CC3D69-1E56-8CF1-4DBB-65E0EF78AF4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CA48D7C-D020-1589-EA99-C8616F6579B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0BA03CE-8B6B-BABD-4298-B0188621634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D32AC27-00C0-584B-68E8-2D4BB499853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D871F69-46F7-0EFA-F227-3B43CB5186CA}"/>
              </a:ext>
            </a:extLst>
          </p:cNvPr>
          <p:cNvSpPr>
            <a:spLocks noGrp="1"/>
          </p:cNvSpPr>
          <p:nvPr>
            <p:ph type="dt" sz="half" idx="10"/>
          </p:nvPr>
        </p:nvSpPr>
        <p:spPr/>
        <p:txBody>
          <a:bodyPr/>
          <a:lstStyle/>
          <a:p>
            <a:fld id="{DE87B14F-BE39-41BB-8A77-0729CFB71114}" type="datetimeFigureOut">
              <a:rPr lang="en-IN" smtClean="0"/>
              <a:t>09-01-2026</a:t>
            </a:fld>
            <a:endParaRPr lang="en-IN"/>
          </a:p>
        </p:txBody>
      </p:sp>
      <p:sp>
        <p:nvSpPr>
          <p:cNvPr id="8" name="Footer Placeholder 7">
            <a:extLst>
              <a:ext uri="{FF2B5EF4-FFF2-40B4-BE49-F238E27FC236}">
                <a16:creationId xmlns:a16="http://schemas.microsoft.com/office/drawing/2014/main" id="{A93BD2EA-28DC-4261-CDEE-DEED0508EDC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87C1A7D-3601-890E-CC58-379C9447695A}"/>
              </a:ext>
            </a:extLst>
          </p:cNvPr>
          <p:cNvSpPr>
            <a:spLocks noGrp="1"/>
          </p:cNvSpPr>
          <p:nvPr>
            <p:ph type="sldNum" sz="quarter" idx="12"/>
          </p:nvPr>
        </p:nvSpPr>
        <p:spPr/>
        <p:txBody>
          <a:bodyPr/>
          <a:lstStyle/>
          <a:p>
            <a:fld id="{3739A0F6-5189-419C-9A3D-337D41F788CC}" type="slidenum">
              <a:rPr lang="en-IN" smtClean="0"/>
              <a:t>‹#›</a:t>
            </a:fld>
            <a:endParaRPr lang="en-IN"/>
          </a:p>
        </p:txBody>
      </p:sp>
    </p:spTree>
    <p:extLst>
      <p:ext uri="{BB962C8B-B14F-4D97-AF65-F5344CB8AC3E}">
        <p14:creationId xmlns:p14="http://schemas.microsoft.com/office/powerpoint/2010/main" val="9645091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9006BF-284F-AC9C-F26D-0A6F8482473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62C4CCDF-B1EE-3EC9-3AC4-014BFA5195A0}"/>
              </a:ext>
            </a:extLst>
          </p:cNvPr>
          <p:cNvSpPr>
            <a:spLocks noGrp="1"/>
          </p:cNvSpPr>
          <p:nvPr>
            <p:ph type="dt" sz="half" idx="10"/>
          </p:nvPr>
        </p:nvSpPr>
        <p:spPr/>
        <p:txBody>
          <a:bodyPr/>
          <a:lstStyle/>
          <a:p>
            <a:fld id="{DE87B14F-BE39-41BB-8A77-0729CFB71114}" type="datetimeFigureOut">
              <a:rPr lang="en-IN" smtClean="0"/>
              <a:t>09-01-2026</a:t>
            </a:fld>
            <a:endParaRPr lang="en-IN"/>
          </a:p>
        </p:txBody>
      </p:sp>
      <p:sp>
        <p:nvSpPr>
          <p:cNvPr id="4" name="Footer Placeholder 3">
            <a:extLst>
              <a:ext uri="{FF2B5EF4-FFF2-40B4-BE49-F238E27FC236}">
                <a16:creationId xmlns:a16="http://schemas.microsoft.com/office/drawing/2014/main" id="{0507D8CE-7B92-0987-C385-F7EBBA90CF7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D31158F1-A489-71CE-06AC-24351B18DF21}"/>
              </a:ext>
            </a:extLst>
          </p:cNvPr>
          <p:cNvSpPr>
            <a:spLocks noGrp="1"/>
          </p:cNvSpPr>
          <p:nvPr>
            <p:ph type="sldNum" sz="quarter" idx="12"/>
          </p:nvPr>
        </p:nvSpPr>
        <p:spPr/>
        <p:txBody>
          <a:bodyPr/>
          <a:lstStyle/>
          <a:p>
            <a:fld id="{3739A0F6-5189-419C-9A3D-337D41F788CC}" type="slidenum">
              <a:rPr lang="en-IN" smtClean="0"/>
              <a:t>‹#›</a:t>
            </a:fld>
            <a:endParaRPr lang="en-IN"/>
          </a:p>
        </p:txBody>
      </p:sp>
    </p:spTree>
    <p:extLst>
      <p:ext uri="{BB962C8B-B14F-4D97-AF65-F5344CB8AC3E}">
        <p14:creationId xmlns:p14="http://schemas.microsoft.com/office/powerpoint/2010/main" val="16882009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57BB1F2-A011-6210-6DE8-86B7B0700BB4}"/>
              </a:ext>
            </a:extLst>
          </p:cNvPr>
          <p:cNvSpPr>
            <a:spLocks noGrp="1"/>
          </p:cNvSpPr>
          <p:nvPr>
            <p:ph type="dt" sz="half" idx="10"/>
          </p:nvPr>
        </p:nvSpPr>
        <p:spPr/>
        <p:txBody>
          <a:bodyPr/>
          <a:lstStyle/>
          <a:p>
            <a:fld id="{DE87B14F-BE39-41BB-8A77-0729CFB71114}" type="datetimeFigureOut">
              <a:rPr lang="en-IN" smtClean="0"/>
              <a:t>09-01-2026</a:t>
            </a:fld>
            <a:endParaRPr lang="en-IN"/>
          </a:p>
        </p:txBody>
      </p:sp>
      <p:sp>
        <p:nvSpPr>
          <p:cNvPr id="3" name="Footer Placeholder 2">
            <a:extLst>
              <a:ext uri="{FF2B5EF4-FFF2-40B4-BE49-F238E27FC236}">
                <a16:creationId xmlns:a16="http://schemas.microsoft.com/office/drawing/2014/main" id="{9D9A9E0E-E60C-C39C-D649-C16B24CADB6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975DF19-63B4-C8F2-A99F-682756434FE7}"/>
              </a:ext>
            </a:extLst>
          </p:cNvPr>
          <p:cNvSpPr>
            <a:spLocks noGrp="1"/>
          </p:cNvSpPr>
          <p:nvPr>
            <p:ph type="sldNum" sz="quarter" idx="12"/>
          </p:nvPr>
        </p:nvSpPr>
        <p:spPr/>
        <p:txBody>
          <a:bodyPr/>
          <a:lstStyle/>
          <a:p>
            <a:fld id="{3739A0F6-5189-419C-9A3D-337D41F788CC}" type="slidenum">
              <a:rPr lang="en-IN" smtClean="0"/>
              <a:t>‹#›</a:t>
            </a:fld>
            <a:endParaRPr lang="en-IN"/>
          </a:p>
        </p:txBody>
      </p:sp>
    </p:spTree>
    <p:extLst>
      <p:ext uri="{BB962C8B-B14F-4D97-AF65-F5344CB8AC3E}">
        <p14:creationId xmlns:p14="http://schemas.microsoft.com/office/powerpoint/2010/main" val="33797777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A28A59-0119-39C3-22F1-1E1F6FF4710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3DD513F-F2EA-6CB2-C850-ECD8E381199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CB7114E-8F9F-A855-8386-91141612BB6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AD8DE45-176B-1DB8-8A99-7C3628F40E7D}"/>
              </a:ext>
            </a:extLst>
          </p:cNvPr>
          <p:cNvSpPr>
            <a:spLocks noGrp="1"/>
          </p:cNvSpPr>
          <p:nvPr>
            <p:ph type="dt" sz="half" idx="10"/>
          </p:nvPr>
        </p:nvSpPr>
        <p:spPr/>
        <p:txBody>
          <a:bodyPr/>
          <a:lstStyle/>
          <a:p>
            <a:fld id="{DE87B14F-BE39-41BB-8A77-0729CFB71114}" type="datetimeFigureOut">
              <a:rPr lang="en-IN" smtClean="0"/>
              <a:t>09-01-2026</a:t>
            </a:fld>
            <a:endParaRPr lang="en-IN"/>
          </a:p>
        </p:txBody>
      </p:sp>
      <p:sp>
        <p:nvSpPr>
          <p:cNvPr id="6" name="Footer Placeholder 5">
            <a:extLst>
              <a:ext uri="{FF2B5EF4-FFF2-40B4-BE49-F238E27FC236}">
                <a16:creationId xmlns:a16="http://schemas.microsoft.com/office/drawing/2014/main" id="{E2895992-FEE7-F231-991D-40FF254D23F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80ADDDC-320A-B173-CCE3-10E979BF4845}"/>
              </a:ext>
            </a:extLst>
          </p:cNvPr>
          <p:cNvSpPr>
            <a:spLocks noGrp="1"/>
          </p:cNvSpPr>
          <p:nvPr>
            <p:ph type="sldNum" sz="quarter" idx="12"/>
          </p:nvPr>
        </p:nvSpPr>
        <p:spPr/>
        <p:txBody>
          <a:bodyPr/>
          <a:lstStyle/>
          <a:p>
            <a:fld id="{3739A0F6-5189-419C-9A3D-337D41F788CC}" type="slidenum">
              <a:rPr lang="en-IN" smtClean="0"/>
              <a:t>‹#›</a:t>
            </a:fld>
            <a:endParaRPr lang="en-IN"/>
          </a:p>
        </p:txBody>
      </p:sp>
    </p:spTree>
    <p:extLst>
      <p:ext uri="{BB962C8B-B14F-4D97-AF65-F5344CB8AC3E}">
        <p14:creationId xmlns:p14="http://schemas.microsoft.com/office/powerpoint/2010/main" val="14830313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E9D590-D4D6-1CEB-94D8-53C3DF6BB2E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1CDE5447-B3F1-C660-5365-5B0EEBA796C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E69A418-AD8F-697B-EBF3-15C6BD07215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36A96AF-CACA-2A3B-03DC-2DAED6A5CE21}"/>
              </a:ext>
            </a:extLst>
          </p:cNvPr>
          <p:cNvSpPr>
            <a:spLocks noGrp="1"/>
          </p:cNvSpPr>
          <p:nvPr>
            <p:ph type="dt" sz="half" idx="10"/>
          </p:nvPr>
        </p:nvSpPr>
        <p:spPr/>
        <p:txBody>
          <a:bodyPr/>
          <a:lstStyle/>
          <a:p>
            <a:fld id="{DE87B14F-BE39-41BB-8A77-0729CFB71114}" type="datetimeFigureOut">
              <a:rPr lang="en-IN" smtClean="0"/>
              <a:t>09-01-2026</a:t>
            </a:fld>
            <a:endParaRPr lang="en-IN"/>
          </a:p>
        </p:txBody>
      </p:sp>
      <p:sp>
        <p:nvSpPr>
          <p:cNvPr id="6" name="Footer Placeholder 5">
            <a:extLst>
              <a:ext uri="{FF2B5EF4-FFF2-40B4-BE49-F238E27FC236}">
                <a16:creationId xmlns:a16="http://schemas.microsoft.com/office/drawing/2014/main" id="{7204CA88-DC03-33E0-6999-7463D6284BE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4B3E2CE-DEE0-6B10-CE6D-7F930520F728}"/>
              </a:ext>
            </a:extLst>
          </p:cNvPr>
          <p:cNvSpPr>
            <a:spLocks noGrp="1"/>
          </p:cNvSpPr>
          <p:nvPr>
            <p:ph type="sldNum" sz="quarter" idx="12"/>
          </p:nvPr>
        </p:nvSpPr>
        <p:spPr/>
        <p:txBody>
          <a:bodyPr/>
          <a:lstStyle/>
          <a:p>
            <a:fld id="{3739A0F6-5189-419C-9A3D-337D41F788CC}" type="slidenum">
              <a:rPr lang="en-IN" smtClean="0"/>
              <a:t>‹#›</a:t>
            </a:fld>
            <a:endParaRPr lang="en-IN"/>
          </a:p>
        </p:txBody>
      </p:sp>
    </p:spTree>
    <p:extLst>
      <p:ext uri="{BB962C8B-B14F-4D97-AF65-F5344CB8AC3E}">
        <p14:creationId xmlns:p14="http://schemas.microsoft.com/office/powerpoint/2010/main" val="37536239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B8FE12-9675-DC51-F59E-57999854493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2B75EB9-C62F-DF74-999F-303E6C807A1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1A9C218-1CB8-ED78-9E35-B7D7F5A7C090}"/>
              </a:ext>
            </a:extLst>
          </p:cNvPr>
          <p:cNvSpPr>
            <a:spLocks noGrp="1"/>
          </p:cNvSpPr>
          <p:nvPr>
            <p:ph type="dt" sz="half" idx="10"/>
          </p:nvPr>
        </p:nvSpPr>
        <p:spPr/>
        <p:txBody>
          <a:bodyPr/>
          <a:lstStyle/>
          <a:p>
            <a:fld id="{DE87B14F-BE39-41BB-8A77-0729CFB71114}" type="datetimeFigureOut">
              <a:rPr lang="en-IN" smtClean="0"/>
              <a:t>09-01-2026</a:t>
            </a:fld>
            <a:endParaRPr lang="en-IN"/>
          </a:p>
        </p:txBody>
      </p:sp>
      <p:sp>
        <p:nvSpPr>
          <p:cNvPr id="5" name="Footer Placeholder 4">
            <a:extLst>
              <a:ext uri="{FF2B5EF4-FFF2-40B4-BE49-F238E27FC236}">
                <a16:creationId xmlns:a16="http://schemas.microsoft.com/office/drawing/2014/main" id="{63F59F37-5551-62EE-5306-4F92E2F0206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9995147-D986-4E12-4F06-D58FEF3BF623}"/>
              </a:ext>
            </a:extLst>
          </p:cNvPr>
          <p:cNvSpPr>
            <a:spLocks noGrp="1"/>
          </p:cNvSpPr>
          <p:nvPr>
            <p:ph type="sldNum" sz="quarter" idx="12"/>
          </p:nvPr>
        </p:nvSpPr>
        <p:spPr/>
        <p:txBody>
          <a:bodyPr/>
          <a:lstStyle/>
          <a:p>
            <a:fld id="{3739A0F6-5189-419C-9A3D-337D41F788CC}" type="slidenum">
              <a:rPr lang="en-IN" smtClean="0"/>
              <a:t>‹#›</a:t>
            </a:fld>
            <a:endParaRPr lang="en-IN"/>
          </a:p>
        </p:txBody>
      </p:sp>
    </p:spTree>
    <p:extLst>
      <p:ext uri="{BB962C8B-B14F-4D97-AF65-F5344CB8AC3E}">
        <p14:creationId xmlns:p14="http://schemas.microsoft.com/office/powerpoint/2010/main" val="4407209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DEE92B0-5397-2A85-BBAA-C05777DCBCF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6B5AE8A-E976-B28C-B3FE-7BF676AC9E7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6CB4988-F0D9-384C-235F-BF073B1DFA6E}"/>
              </a:ext>
            </a:extLst>
          </p:cNvPr>
          <p:cNvSpPr>
            <a:spLocks noGrp="1"/>
          </p:cNvSpPr>
          <p:nvPr>
            <p:ph type="dt" sz="half" idx="10"/>
          </p:nvPr>
        </p:nvSpPr>
        <p:spPr/>
        <p:txBody>
          <a:bodyPr/>
          <a:lstStyle/>
          <a:p>
            <a:fld id="{DE87B14F-BE39-41BB-8A77-0729CFB71114}" type="datetimeFigureOut">
              <a:rPr lang="en-IN" smtClean="0"/>
              <a:t>09-01-2026</a:t>
            </a:fld>
            <a:endParaRPr lang="en-IN"/>
          </a:p>
        </p:txBody>
      </p:sp>
      <p:sp>
        <p:nvSpPr>
          <p:cNvPr id="5" name="Footer Placeholder 4">
            <a:extLst>
              <a:ext uri="{FF2B5EF4-FFF2-40B4-BE49-F238E27FC236}">
                <a16:creationId xmlns:a16="http://schemas.microsoft.com/office/drawing/2014/main" id="{143FEFB4-4DEF-6226-629F-72AAEA21E91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9EFAA5B-FCA2-15C0-4DDA-9BC04C132662}"/>
              </a:ext>
            </a:extLst>
          </p:cNvPr>
          <p:cNvSpPr>
            <a:spLocks noGrp="1"/>
          </p:cNvSpPr>
          <p:nvPr>
            <p:ph type="sldNum" sz="quarter" idx="12"/>
          </p:nvPr>
        </p:nvSpPr>
        <p:spPr/>
        <p:txBody>
          <a:bodyPr/>
          <a:lstStyle/>
          <a:p>
            <a:fld id="{3739A0F6-5189-419C-9A3D-337D41F788CC}" type="slidenum">
              <a:rPr lang="en-IN" smtClean="0"/>
              <a:t>‹#›</a:t>
            </a:fld>
            <a:endParaRPr lang="en-IN"/>
          </a:p>
        </p:txBody>
      </p:sp>
    </p:spTree>
    <p:extLst>
      <p:ext uri="{BB962C8B-B14F-4D97-AF65-F5344CB8AC3E}">
        <p14:creationId xmlns:p14="http://schemas.microsoft.com/office/powerpoint/2010/main" val="5975472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2CC9093-B439-6290-448D-8FAD67358BD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25E9A7F-AAB1-6B69-8360-D47AADF3006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4703A5F-0971-A083-5FA8-3E9F5DF4BE4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E87B14F-BE39-41BB-8A77-0729CFB71114}" type="datetimeFigureOut">
              <a:rPr lang="en-IN" smtClean="0"/>
              <a:t>09-01-2026</a:t>
            </a:fld>
            <a:endParaRPr lang="en-IN"/>
          </a:p>
        </p:txBody>
      </p:sp>
      <p:sp>
        <p:nvSpPr>
          <p:cNvPr id="5" name="Footer Placeholder 4">
            <a:extLst>
              <a:ext uri="{FF2B5EF4-FFF2-40B4-BE49-F238E27FC236}">
                <a16:creationId xmlns:a16="http://schemas.microsoft.com/office/drawing/2014/main" id="{46DB9684-D670-A098-153B-6F918D59C73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9F413C0D-E37E-0CF9-FBE0-C85C4201D4A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739A0F6-5189-419C-9A3D-337D41F788CC}" type="slidenum">
              <a:rPr lang="en-IN" smtClean="0"/>
              <a:t>‹#›</a:t>
            </a:fld>
            <a:endParaRPr lang="en-IN"/>
          </a:p>
        </p:txBody>
      </p:sp>
    </p:spTree>
    <p:extLst>
      <p:ext uri="{BB962C8B-B14F-4D97-AF65-F5344CB8AC3E}">
        <p14:creationId xmlns:p14="http://schemas.microsoft.com/office/powerpoint/2010/main" val="3244612257"/>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hyperlink" Target="https://github.com/settings/keys"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8B90C9-1235-DA86-DB20-71157058A8D3}"/>
              </a:ext>
            </a:extLst>
          </p:cNvPr>
          <p:cNvSpPr>
            <a:spLocks noGrp="1"/>
          </p:cNvSpPr>
          <p:nvPr>
            <p:ph type="ctrTitle"/>
          </p:nvPr>
        </p:nvSpPr>
        <p:spPr/>
        <p:txBody>
          <a:bodyPr/>
          <a:lstStyle/>
          <a:p>
            <a:r>
              <a:rPr lang="en-US" dirty="0"/>
              <a:t>Git</a:t>
            </a:r>
            <a:endParaRPr lang="en-IN" dirty="0"/>
          </a:p>
        </p:txBody>
      </p:sp>
      <p:sp>
        <p:nvSpPr>
          <p:cNvPr id="3" name="Subtitle 2">
            <a:extLst>
              <a:ext uri="{FF2B5EF4-FFF2-40B4-BE49-F238E27FC236}">
                <a16:creationId xmlns:a16="http://schemas.microsoft.com/office/drawing/2014/main" id="{CE17408C-74A4-F85D-13AF-118B97525D95}"/>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35508254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B7ABC0-1AF7-6BE0-29B9-33D234FEB32C}"/>
              </a:ext>
            </a:extLst>
          </p:cNvPr>
          <p:cNvSpPr>
            <a:spLocks noGrp="1"/>
          </p:cNvSpPr>
          <p:nvPr>
            <p:ph type="title"/>
          </p:nvPr>
        </p:nvSpPr>
        <p:spPr/>
        <p:txBody>
          <a:bodyPr/>
          <a:lstStyle/>
          <a:p>
            <a:pPr algn="ctr"/>
            <a:r>
              <a:rPr lang="en-IN" dirty="0"/>
              <a:t>What is Git?</a:t>
            </a:r>
          </a:p>
        </p:txBody>
      </p:sp>
      <p:sp>
        <p:nvSpPr>
          <p:cNvPr id="3" name="Content Placeholder 2">
            <a:extLst>
              <a:ext uri="{FF2B5EF4-FFF2-40B4-BE49-F238E27FC236}">
                <a16:creationId xmlns:a16="http://schemas.microsoft.com/office/drawing/2014/main" id="{BE1D56FB-B600-BBE7-0B90-E550F843B614}"/>
              </a:ext>
            </a:extLst>
          </p:cNvPr>
          <p:cNvSpPr>
            <a:spLocks noGrp="1"/>
          </p:cNvSpPr>
          <p:nvPr>
            <p:ph idx="1"/>
          </p:nvPr>
        </p:nvSpPr>
        <p:spPr>
          <a:xfrm>
            <a:off x="838200" y="1198485"/>
            <a:ext cx="10515600" cy="4978478"/>
          </a:xfrm>
        </p:spPr>
        <p:txBody>
          <a:bodyPr>
            <a:normAutofit/>
          </a:bodyPr>
          <a:lstStyle/>
          <a:p>
            <a:r>
              <a:rPr lang="en-US" dirty="0"/>
              <a:t>Git is a Version Control System (VCS) designed to make it easier to have multiple versions of a code base, sometimes across multiple developers or teams. </a:t>
            </a:r>
          </a:p>
          <a:p>
            <a:r>
              <a:rPr lang="en-US" dirty="0"/>
              <a:t>It allows you to see changes you make to your code and easily revert them.</a:t>
            </a:r>
          </a:p>
          <a:p>
            <a:r>
              <a:rPr lang="en-US" dirty="0"/>
              <a:t>VC, also known as source control, is a software that tracks and manages changes to files over time. Allows revisit earlier versions of the files, compare changes between versions, undo changes, etc. </a:t>
            </a:r>
            <a:endParaRPr lang="en-IN" dirty="0"/>
          </a:p>
        </p:txBody>
      </p:sp>
    </p:spTree>
    <p:extLst>
      <p:ext uri="{BB962C8B-B14F-4D97-AF65-F5344CB8AC3E}">
        <p14:creationId xmlns:p14="http://schemas.microsoft.com/office/powerpoint/2010/main" val="471191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0451A2-6BE4-B636-3CA8-AF1C731B0747}"/>
              </a:ext>
            </a:extLst>
          </p:cNvPr>
          <p:cNvSpPr>
            <a:spLocks noGrp="1"/>
          </p:cNvSpPr>
          <p:nvPr>
            <p:ph type="title"/>
          </p:nvPr>
        </p:nvSpPr>
        <p:spPr/>
        <p:txBody>
          <a:bodyPr/>
          <a:lstStyle/>
          <a:p>
            <a:r>
              <a:rPr lang="en-US" dirty="0"/>
              <a:t>Main features:</a:t>
            </a:r>
            <a:endParaRPr lang="en-IN" dirty="0"/>
          </a:p>
        </p:txBody>
      </p:sp>
      <p:sp>
        <p:nvSpPr>
          <p:cNvPr id="3" name="Content Placeholder 2">
            <a:extLst>
              <a:ext uri="{FF2B5EF4-FFF2-40B4-BE49-F238E27FC236}">
                <a16:creationId xmlns:a16="http://schemas.microsoft.com/office/drawing/2014/main" id="{E60939F3-FF17-2A45-E0CC-02805D636E9D}"/>
              </a:ext>
            </a:extLst>
          </p:cNvPr>
          <p:cNvSpPr>
            <a:spLocks noGrp="1"/>
          </p:cNvSpPr>
          <p:nvPr>
            <p:ph idx="1"/>
          </p:nvPr>
        </p:nvSpPr>
        <p:spPr/>
        <p:txBody>
          <a:bodyPr/>
          <a:lstStyle/>
          <a:p>
            <a:r>
              <a:rPr lang="en-US" dirty="0"/>
              <a:t>Track changes across multiple files </a:t>
            </a:r>
          </a:p>
          <a:p>
            <a:r>
              <a:rPr lang="en-US" dirty="0"/>
              <a:t>Compare versions of a project </a:t>
            </a:r>
          </a:p>
          <a:p>
            <a:r>
              <a:rPr lang="en-US" dirty="0"/>
              <a:t>“Time travel” back to old versions </a:t>
            </a:r>
          </a:p>
          <a:p>
            <a:r>
              <a:rPr lang="en-US" dirty="0"/>
              <a:t>Revert to a previous version </a:t>
            </a:r>
          </a:p>
          <a:p>
            <a:r>
              <a:rPr lang="en-US" dirty="0"/>
              <a:t>Collaborate and share changes • Combine changes</a:t>
            </a:r>
            <a:endParaRPr lang="en-IN" dirty="0"/>
          </a:p>
        </p:txBody>
      </p:sp>
    </p:spTree>
    <p:extLst>
      <p:ext uri="{BB962C8B-B14F-4D97-AF65-F5344CB8AC3E}">
        <p14:creationId xmlns:p14="http://schemas.microsoft.com/office/powerpoint/2010/main" val="22427249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2CA54C-B137-B1C6-4E93-39944E939787}"/>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9C873567-21A5-0F94-EF81-D18D0C5AE5DD}"/>
              </a:ext>
            </a:extLst>
          </p:cNvPr>
          <p:cNvPicPr>
            <a:picLocks noGrp="1" noChangeAspect="1"/>
          </p:cNvPicPr>
          <p:nvPr>
            <p:ph idx="1"/>
          </p:nvPr>
        </p:nvPicPr>
        <p:blipFill>
          <a:blip r:embed="rId2"/>
          <a:stretch>
            <a:fillRect/>
          </a:stretch>
        </p:blipFill>
        <p:spPr>
          <a:xfrm>
            <a:off x="1878337" y="1825625"/>
            <a:ext cx="8435326" cy="4351338"/>
          </a:xfrm>
          <a:prstGeom prst="rect">
            <a:avLst/>
          </a:prstGeom>
        </p:spPr>
      </p:pic>
    </p:spTree>
    <p:extLst>
      <p:ext uri="{BB962C8B-B14F-4D97-AF65-F5344CB8AC3E}">
        <p14:creationId xmlns:p14="http://schemas.microsoft.com/office/powerpoint/2010/main" val="14196264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6E5E3D-51E7-456D-2933-FC1E6BF43B55}"/>
              </a:ext>
            </a:extLst>
          </p:cNvPr>
          <p:cNvSpPr>
            <a:spLocks noGrp="1"/>
          </p:cNvSpPr>
          <p:nvPr>
            <p:ph type="title"/>
          </p:nvPr>
        </p:nvSpPr>
        <p:spPr/>
        <p:txBody>
          <a:bodyPr/>
          <a:lstStyle/>
          <a:p>
            <a:pPr algn="ctr"/>
            <a:r>
              <a:rPr lang="en-IN" dirty="0"/>
              <a:t>What is </a:t>
            </a:r>
            <a:r>
              <a:rPr lang="en-IN" dirty="0" err="1"/>
              <a:t>Github</a:t>
            </a:r>
            <a:r>
              <a:rPr lang="en-IN" dirty="0"/>
              <a:t>? </a:t>
            </a:r>
          </a:p>
        </p:txBody>
      </p:sp>
      <p:sp>
        <p:nvSpPr>
          <p:cNvPr id="3" name="Content Placeholder 2">
            <a:extLst>
              <a:ext uri="{FF2B5EF4-FFF2-40B4-BE49-F238E27FC236}">
                <a16:creationId xmlns:a16="http://schemas.microsoft.com/office/drawing/2014/main" id="{513B77D0-E34C-25FF-B468-E98575F410CA}"/>
              </a:ext>
            </a:extLst>
          </p:cNvPr>
          <p:cNvSpPr>
            <a:spLocks noGrp="1"/>
          </p:cNvSpPr>
          <p:nvPr>
            <p:ph idx="1"/>
          </p:nvPr>
        </p:nvSpPr>
        <p:spPr/>
        <p:txBody>
          <a:bodyPr/>
          <a:lstStyle/>
          <a:p>
            <a:r>
              <a:rPr lang="en-US" dirty="0"/>
              <a:t>Github.com is a website that hosts git repositories on a remote server </a:t>
            </a:r>
          </a:p>
          <a:p>
            <a:r>
              <a:rPr lang="en-US" dirty="0"/>
              <a:t>Hosting repositories on </a:t>
            </a:r>
            <a:r>
              <a:rPr lang="en-US" dirty="0" err="1"/>
              <a:t>Github</a:t>
            </a:r>
            <a:r>
              <a:rPr lang="en-US" dirty="0"/>
              <a:t> facilitates the sharing of codebases among teams by providing a GUI to easily fork or clone repos to a local machine</a:t>
            </a:r>
          </a:p>
          <a:p>
            <a:r>
              <a:rPr lang="en-US" dirty="0"/>
              <a:t>By pushing your repositories to </a:t>
            </a:r>
            <a:r>
              <a:rPr lang="en-US" dirty="0" err="1"/>
              <a:t>Github</a:t>
            </a:r>
            <a:r>
              <a:rPr lang="en-US" dirty="0"/>
              <a:t>, you will pretty much automatically create your own developer portfolio as well!</a:t>
            </a:r>
            <a:endParaRPr lang="en-IN" dirty="0"/>
          </a:p>
        </p:txBody>
      </p:sp>
    </p:spTree>
    <p:extLst>
      <p:ext uri="{BB962C8B-B14F-4D97-AF65-F5344CB8AC3E}">
        <p14:creationId xmlns:p14="http://schemas.microsoft.com/office/powerpoint/2010/main" val="16709194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151508-CD26-32C0-BCE1-A0002FF333C9}"/>
              </a:ext>
            </a:extLst>
          </p:cNvPr>
          <p:cNvSpPr>
            <a:spLocks noGrp="1"/>
          </p:cNvSpPr>
          <p:nvPr>
            <p:ph type="title"/>
          </p:nvPr>
        </p:nvSpPr>
        <p:spPr>
          <a:xfrm>
            <a:off x="838200" y="365125"/>
            <a:ext cx="10515600" cy="913259"/>
          </a:xfrm>
        </p:spPr>
        <p:txBody>
          <a:bodyPr/>
          <a:lstStyle/>
          <a:p>
            <a:r>
              <a:rPr lang="en-IN" dirty="0"/>
              <a:t>LOCAL VERSION CONTROL SYSTEM</a:t>
            </a:r>
          </a:p>
        </p:txBody>
      </p:sp>
      <p:sp>
        <p:nvSpPr>
          <p:cNvPr id="3" name="Content Placeholder 2">
            <a:extLst>
              <a:ext uri="{FF2B5EF4-FFF2-40B4-BE49-F238E27FC236}">
                <a16:creationId xmlns:a16="http://schemas.microsoft.com/office/drawing/2014/main" id="{C942DDD5-355B-FA2D-0180-FF7299C64786}"/>
              </a:ext>
            </a:extLst>
          </p:cNvPr>
          <p:cNvSpPr>
            <a:spLocks noGrp="1"/>
          </p:cNvSpPr>
          <p:nvPr>
            <p:ph idx="1"/>
          </p:nvPr>
        </p:nvSpPr>
        <p:spPr>
          <a:xfrm>
            <a:off x="701336" y="1278384"/>
            <a:ext cx="10652464" cy="4898579"/>
          </a:xfrm>
        </p:spPr>
        <p:txBody>
          <a:bodyPr/>
          <a:lstStyle/>
          <a:p>
            <a:r>
              <a:rPr lang="en-US" dirty="0"/>
              <a:t>A local version control system is a local database located on your local computer, that keeps all the changes to files under revision control. One of the most popular VCS tools was a system called RCS, which is still distributed with many computers today. </a:t>
            </a:r>
          </a:p>
          <a:p>
            <a:r>
              <a:rPr lang="en-US" dirty="0"/>
              <a:t>RCS works by keeping patch sets (that is, the differences between files) in a special format on disk; it can then re -create what any file looked like at any point in time by adding up all the patches.</a:t>
            </a:r>
            <a:endParaRPr lang="en-IN" dirty="0"/>
          </a:p>
        </p:txBody>
      </p:sp>
      <p:pic>
        <p:nvPicPr>
          <p:cNvPr id="5" name="Picture 4">
            <a:extLst>
              <a:ext uri="{FF2B5EF4-FFF2-40B4-BE49-F238E27FC236}">
                <a16:creationId xmlns:a16="http://schemas.microsoft.com/office/drawing/2014/main" id="{630EA0B1-B8A6-423D-8CFF-C1B45FDBC603}"/>
              </a:ext>
            </a:extLst>
          </p:cNvPr>
          <p:cNvPicPr>
            <a:picLocks noChangeAspect="1"/>
          </p:cNvPicPr>
          <p:nvPr/>
        </p:nvPicPr>
        <p:blipFill>
          <a:blip r:embed="rId2"/>
          <a:stretch>
            <a:fillRect/>
          </a:stretch>
        </p:blipFill>
        <p:spPr>
          <a:xfrm>
            <a:off x="3204626" y="4124638"/>
            <a:ext cx="4877223" cy="2568163"/>
          </a:xfrm>
          <a:prstGeom prst="rect">
            <a:avLst/>
          </a:prstGeom>
        </p:spPr>
      </p:pic>
    </p:spTree>
    <p:extLst>
      <p:ext uri="{BB962C8B-B14F-4D97-AF65-F5344CB8AC3E}">
        <p14:creationId xmlns:p14="http://schemas.microsoft.com/office/powerpoint/2010/main" val="38938528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4146D2-091E-91B7-295E-C95423829CC5}"/>
              </a:ext>
            </a:extLst>
          </p:cNvPr>
          <p:cNvSpPr>
            <a:spLocks noGrp="1"/>
          </p:cNvSpPr>
          <p:nvPr>
            <p:ph type="title"/>
          </p:nvPr>
        </p:nvSpPr>
        <p:spPr/>
        <p:txBody>
          <a:bodyPr/>
          <a:lstStyle/>
          <a:p>
            <a:r>
              <a:rPr lang="en-IN" dirty="0"/>
              <a:t>Disadvantages:</a:t>
            </a:r>
          </a:p>
        </p:txBody>
      </p:sp>
      <p:sp>
        <p:nvSpPr>
          <p:cNvPr id="3" name="Content Placeholder 2">
            <a:extLst>
              <a:ext uri="{FF2B5EF4-FFF2-40B4-BE49-F238E27FC236}">
                <a16:creationId xmlns:a16="http://schemas.microsoft.com/office/drawing/2014/main" id="{716FAAD1-93F8-B3C1-00EA-A3D05D44650A}"/>
              </a:ext>
            </a:extLst>
          </p:cNvPr>
          <p:cNvSpPr>
            <a:spLocks noGrp="1"/>
          </p:cNvSpPr>
          <p:nvPr>
            <p:ph idx="1"/>
          </p:nvPr>
        </p:nvSpPr>
        <p:spPr/>
        <p:txBody>
          <a:bodyPr/>
          <a:lstStyle/>
          <a:p>
            <a:r>
              <a:rPr lang="en-US" dirty="0"/>
              <a:t>If anything were to happen to the local database, all the patches would be lost. </a:t>
            </a:r>
          </a:p>
          <a:p>
            <a:r>
              <a:rPr lang="en-US" dirty="0"/>
              <a:t>If anything were to happen to a single version, all the changes made after that version would be lost. </a:t>
            </a:r>
          </a:p>
          <a:p>
            <a:r>
              <a:rPr lang="en-US" dirty="0"/>
              <a:t>Collaborating with other developers or a team is very hard or nearly impossible.</a:t>
            </a:r>
            <a:endParaRPr lang="en-IN" dirty="0"/>
          </a:p>
        </p:txBody>
      </p:sp>
    </p:spTree>
    <p:extLst>
      <p:ext uri="{BB962C8B-B14F-4D97-AF65-F5344CB8AC3E}">
        <p14:creationId xmlns:p14="http://schemas.microsoft.com/office/powerpoint/2010/main" val="24154115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99A514-7572-739C-A0F5-CBD49256F185}"/>
              </a:ext>
            </a:extLst>
          </p:cNvPr>
          <p:cNvSpPr>
            <a:spLocks noGrp="1"/>
          </p:cNvSpPr>
          <p:nvPr>
            <p:ph type="title"/>
          </p:nvPr>
        </p:nvSpPr>
        <p:spPr>
          <a:xfrm>
            <a:off x="838200" y="365125"/>
            <a:ext cx="10515600" cy="646929"/>
          </a:xfrm>
        </p:spPr>
        <p:txBody>
          <a:bodyPr>
            <a:normAutofit fontScale="90000"/>
          </a:bodyPr>
          <a:lstStyle/>
          <a:p>
            <a:r>
              <a:rPr lang="en-IN" dirty="0"/>
              <a:t>CENTRALIZED VERSION CONTROL SYSTEM</a:t>
            </a:r>
          </a:p>
        </p:txBody>
      </p:sp>
      <p:sp>
        <p:nvSpPr>
          <p:cNvPr id="3" name="Content Placeholder 2">
            <a:extLst>
              <a:ext uri="{FF2B5EF4-FFF2-40B4-BE49-F238E27FC236}">
                <a16:creationId xmlns:a16="http://schemas.microsoft.com/office/drawing/2014/main" id="{446CCE3B-4BF1-0CDA-CF5F-73499F15FFAD}"/>
              </a:ext>
            </a:extLst>
          </p:cNvPr>
          <p:cNvSpPr>
            <a:spLocks noGrp="1"/>
          </p:cNvSpPr>
          <p:nvPr>
            <p:ph idx="1"/>
          </p:nvPr>
        </p:nvSpPr>
        <p:spPr>
          <a:xfrm>
            <a:off x="838200" y="1012054"/>
            <a:ext cx="10515600" cy="5164909"/>
          </a:xfrm>
        </p:spPr>
        <p:txBody>
          <a:bodyPr/>
          <a:lstStyle/>
          <a:p>
            <a:r>
              <a:rPr lang="en-US" dirty="0"/>
              <a:t>A centralized version control system has a single server that contains all the file versions. This enables multiple clients to simultaneously access files on the server, pull them to their local computer or push them onto the server from their local computer. This way, everyone usually knows what everyone else on the project is doing. Administrators have control over who can do what. Examples of CVCS are TFS (Microsoft Team Foundation) and SVN.</a:t>
            </a:r>
            <a:endParaRPr lang="en-IN" dirty="0"/>
          </a:p>
        </p:txBody>
      </p:sp>
      <p:pic>
        <p:nvPicPr>
          <p:cNvPr id="5" name="Picture 4">
            <a:extLst>
              <a:ext uri="{FF2B5EF4-FFF2-40B4-BE49-F238E27FC236}">
                <a16:creationId xmlns:a16="http://schemas.microsoft.com/office/drawing/2014/main" id="{7191C1BE-4214-7A19-67A8-D913C696130B}"/>
              </a:ext>
            </a:extLst>
          </p:cNvPr>
          <p:cNvPicPr>
            <a:picLocks noChangeAspect="1"/>
          </p:cNvPicPr>
          <p:nvPr/>
        </p:nvPicPr>
        <p:blipFill>
          <a:blip r:embed="rId2"/>
          <a:stretch>
            <a:fillRect/>
          </a:stretch>
        </p:blipFill>
        <p:spPr>
          <a:xfrm>
            <a:off x="3459684" y="3704521"/>
            <a:ext cx="4686706" cy="3017782"/>
          </a:xfrm>
          <a:prstGeom prst="rect">
            <a:avLst/>
          </a:prstGeom>
        </p:spPr>
      </p:pic>
    </p:spTree>
    <p:extLst>
      <p:ext uri="{BB962C8B-B14F-4D97-AF65-F5344CB8AC3E}">
        <p14:creationId xmlns:p14="http://schemas.microsoft.com/office/powerpoint/2010/main" val="40082789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D315CB-DC2F-EE84-39CD-5861C7257903}"/>
              </a:ext>
            </a:extLst>
          </p:cNvPr>
          <p:cNvSpPr>
            <a:spLocks noGrp="1"/>
          </p:cNvSpPr>
          <p:nvPr>
            <p:ph type="title"/>
          </p:nvPr>
        </p:nvSpPr>
        <p:spPr/>
        <p:txBody>
          <a:bodyPr/>
          <a:lstStyle/>
          <a:p>
            <a:r>
              <a:rPr lang="en-IN" dirty="0"/>
              <a:t>Disadvantages</a:t>
            </a:r>
          </a:p>
        </p:txBody>
      </p:sp>
      <p:sp>
        <p:nvSpPr>
          <p:cNvPr id="3" name="Content Placeholder 2">
            <a:extLst>
              <a:ext uri="{FF2B5EF4-FFF2-40B4-BE49-F238E27FC236}">
                <a16:creationId xmlns:a16="http://schemas.microsoft.com/office/drawing/2014/main" id="{738C678A-1995-9609-1BAB-93D20F081D30}"/>
              </a:ext>
            </a:extLst>
          </p:cNvPr>
          <p:cNvSpPr>
            <a:spLocks noGrp="1"/>
          </p:cNvSpPr>
          <p:nvPr>
            <p:ph idx="1"/>
          </p:nvPr>
        </p:nvSpPr>
        <p:spPr/>
        <p:txBody>
          <a:bodyPr/>
          <a:lstStyle/>
          <a:p>
            <a:r>
              <a:rPr lang="en-US" dirty="0"/>
              <a:t>If the main server goes down, developers can’t save versioned changes </a:t>
            </a:r>
          </a:p>
          <a:p>
            <a:r>
              <a:rPr lang="en-US" dirty="0"/>
              <a:t>If the central database is corrupted, the entire history could be lost (security issues) </a:t>
            </a:r>
          </a:p>
          <a:p>
            <a:r>
              <a:rPr lang="en-US" dirty="0"/>
              <a:t>Slow speed delays development</a:t>
            </a:r>
            <a:endParaRPr lang="en-IN" dirty="0"/>
          </a:p>
        </p:txBody>
      </p:sp>
    </p:spTree>
    <p:extLst>
      <p:ext uri="{BB962C8B-B14F-4D97-AF65-F5344CB8AC3E}">
        <p14:creationId xmlns:p14="http://schemas.microsoft.com/office/powerpoint/2010/main" val="38158352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D5C18EE1-EC07-51D0-FF66-578515E894F9}"/>
              </a:ext>
            </a:extLst>
          </p:cNvPr>
          <p:cNvGraphicFramePr>
            <a:graphicFrameLocks noGrp="1"/>
          </p:cNvGraphicFramePr>
          <p:nvPr>
            <p:ph idx="1"/>
            <p:extLst>
              <p:ext uri="{D42A27DB-BD31-4B8C-83A1-F6EECF244321}">
                <p14:modId xmlns:p14="http://schemas.microsoft.com/office/powerpoint/2010/main" val="3502955159"/>
              </p:ext>
            </p:extLst>
          </p:nvPr>
        </p:nvGraphicFramePr>
        <p:xfrm>
          <a:off x="1121433" y="365125"/>
          <a:ext cx="10662248" cy="6492870"/>
        </p:xfrm>
        <a:graphic>
          <a:graphicData uri="http://schemas.openxmlformats.org/drawingml/2006/table">
            <a:tbl>
              <a:tblPr/>
              <a:tblGrid>
                <a:gridCol w="2665562">
                  <a:extLst>
                    <a:ext uri="{9D8B030D-6E8A-4147-A177-3AD203B41FA5}">
                      <a16:colId xmlns:a16="http://schemas.microsoft.com/office/drawing/2014/main" val="3406512902"/>
                    </a:ext>
                  </a:extLst>
                </a:gridCol>
                <a:gridCol w="2665562">
                  <a:extLst>
                    <a:ext uri="{9D8B030D-6E8A-4147-A177-3AD203B41FA5}">
                      <a16:colId xmlns:a16="http://schemas.microsoft.com/office/drawing/2014/main" val="1733337139"/>
                    </a:ext>
                  </a:extLst>
                </a:gridCol>
                <a:gridCol w="2665562">
                  <a:extLst>
                    <a:ext uri="{9D8B030D-6E8A-4147-A177-3AD203B41FA5}">
                      <a16:colId xmlns:a16="http://schemas.microsoft.com/office/drawing/2014/main" val="3402957111"/>
                    </a:ext>
                  </a:extLst>
                </a:gridCol>
                <a:gridCol w="2665562">
                  <a:extLst>
                    <a:ext uri="{9D8B030D-6E8A-4147-A177-3AD203B41FA5}">
                      <a16:colId xmlns:a16="http://schemas.microsoft.com/office/drawing/2014/main" val="1212261420"/>
                    </a:ext>
                  </a:extLst>
                </a:gridCol>
              </a:tblGrid>
              <a:tr h="297621">
                <a:tc>
                  <a:txBody>
                    <a:bodyPr/>
                    <a:lstStyle/>
                    <a:p>
                      <a:pPr>
                        <a:buNone/>
                      </a:pPr>
                      <a:r>
                        <a:rPr lang="en-IN" sz="1100"/>
                        <a:t>Feature</a:t>
                      </a:r>
                    </a:p>
                  </a:txBody>
                  <a:tcPr marL="53720" marR="53720" marT="26860" marB="26860" anchor="ctr">
                    <a:lnL>
                      <a:noFill/>
                    </a:lnL>
                    <a:lnR>
                      <a:noFill/>
                    </a:lnR>
                    <a:lnT>
                      <a:noFill/>
                    </a:lnT>
                    <a:lnB>
                      <a:noFill/>
                    </a:lnB>
                    <a:noFill/>
                  </a:tcPr>
                </a:tc>
                <a:tc>
                  <a:txBody>
                    <a:bodyPr/>
                    <a:lstStyle/>
                    <a:p>
                      <a:pPr>
                        <a:buNone/>
                      </a:pPr>
                      <a:r>
                        <a:rPr lang="en-IN" sz="1100"/>
                        <a:t>SCCS (1972)</a:t>
                      </a:r>
                    </a:p>
                  </a:txBody>
                  <a:tcPr marL="53720" marR="53720" marT="26860" marB="26860" anchor="ctr">
                    <a:lnL>
                      <a:noFill/>
                    </a:lnL>
                    <a:lnR>
                      <a:noFill/>
                    </a:lnR>
                    <a:lnT>
                      <a:noFill/>
                    </a:lnT>
                    <a:lnB>
                      <a:noFill/>
                    </a:lnB>
                    <a:noFill/>
                  </a:tcPr>
                </a:tc>
                <a:tc>
                  <a:txBody>
                    <a:bodyPr/>
                    <a:lstStyle/>
                    <a:p>
                      <a:pPr>
                        <a:buNone/>
                      </a:pPr>
                      <a:r>
                        <a:rPr lang="en-IN" sz="1100"/>
                        <a:t>RCS (1982)</a:t>
                      </a:r>
                    </a:p>
                  </a:txBody>
                  <a:tcPr marL="53720" marR="53720" marT="26860" marB="26860" anchor="ctr">
                    <a:lnL>
                      <a:noFill/>
                    </a:lnL>
                    <a:lnR>
                      <a:noFill/>
                    </a:lnR>
                    <a:lnT>
                      <a:noFill/>
                    </a:lnT>
                    <a:lnB>
                      <a:noFill/>
                    </a:lnB>
                    <a:noFill/>
                  </a:tcPr>
                </a:tc>
                <a:tc>
                  <a:txBody>
                    <a:bodyPr/>
                    <a:lstStyle/>
                    <a:p>
                      <a:pPr>
                        <a:buNone/>
                      </a:pPr>
                      <a:r>
                        <a:rPr lang="en-IN" sz="1100"/>
                        <a:t>CVS (1986)</a:t>
                      </a:r>
                    </a:p>
                  </a:txBody>
                  <a:tcPr marL="53720" marR="53720" marT="26860" marB="26860" anchor="ctr">
                    <a:lnL>
                      <a:noFill/>
                    </a:lnL>
                    <a:lnR>
                      <a:noFill/>
                    </a:lnR>
                    <a:lnT>
                      <a:noFill/>
                    </a:lnT>
                    <a:lnB>
                      <a:noFill/>
                    </a:lnB>
                    <a:noFill/>
                  </a:tcPr>
                </a:tc>
                <a:extLst>
                  <a:ext uri="{0D108BD9-81ED-4DB2-BD59-A6C34878D82A}">
                    <a16:rowId xmlns:a16="http://schemas.microsoft.com/office/drawing/2014/main" val="1714736238"/>
                  </a:ext>
                </a:extLst>
              </a:tr>
              <a:tr h="523016">
                <a:tc>
                  <a:txBody>
                    <a:bodyPr/>
                    <a:lstStyle/>
                    <a:p>
                      <a:pPr>
                        <a:buNone/>
                      </a:pPr>
                      <a:r>
                        <a:rPr lang="en-IN" sz="1100" b="1"/>
                        <a:t>Developer</a:t>
                      </a:r>
                      <a:endParaRPr lang="en-IN" sz="1100"/>
                    </a:p>
                  </a:txBody>
                  <a:tcPr marL="53720" marR="53720" marT="26860" marB="26860" anchor="ctr">
                    <a:lnL>
                      <a:noFill/>
                    </a:lnL>
                    <a:lnR>
                      <a:noFill/>
                    </a:lnR>
                    <a:lnT>
                      <a:noFill/>
                    </a:lnT>
                    <a:lnB>
                      <a:noFill/>
                    </a:lnB>
                    <a:noFill/>
                  </a:tcPr>
                </a:tc>
                <a:tc>
                  <a:txBody>
                    <a:bodyPr/>
                    <a:lstStyle/>
                    <a:p>
                      <a:pPr>
                        <a:buNone/>
                      </a:pPr>
                      <a:r>
                        <a:rPr lang="en-IN" sz="1100"/>
                        <a:t>Marc Rochkind (Bell Labs)</a:t>
                      </a:r>
                    </a:p>
                  </a:txBody>
                  <a:tcPr marL="53720" marR="53720" marT="26860" marB="26860" anchor="ctr">
                    <a:lnL>
                      <a:noFill/>
                    </a:lnL>
                    <a:lnR>
                      <a:noFill/>
                    </a:lnR>
                    <a:lnT>
                      <a:noFill/>
                    </a:lnT>
                    <a:lnB>
                      <a:noFill/>
                    </a:lnB>
                    <a:noFill/>
                  </a:tcPr>
                </a:tc>
                <a:tc>
                  <a:txBody>
                    <a:bodyPr/>
                    <a:lstStyle/>
                    <a:p>
                      <a:pPr>
                        <a:buNone/>
                      </a:pPr>
                      <a:r>
                        <a:rPr lang="en-IN" sz="1100"/>
                        <a:t>Walter F. Tichy</a:t>
                      </a:r>
                    </a:p>
                  </a:txBody>
                  <a:tcPr marL="53720" marR="53720" marT="26860" marB="26860" anchor="ctr">
                    <a:lnL>
                      <a:noFill/>
                    </a:lnL>
                    <a:lnR>
                      <a:noFill/>
                    </a:lnR>
                    <a:lnT>
                      <a:noFill/>
                    </a:lnT>
                    <a:lnB>
                      <a:noFill/>
                    </a:lnB>
                    <a:noFill/>
                  </a:tcPr>
                </a:tc>
                <a:tc>
                  <a:txBody>
                    <a:bodyPr/>
                    <a:lstStyle/>
                    <a:p>
                      <a:pPr>
                        <a:buNone/>
                      </a:pPr>
                      <a:r>
                        <a:rPr lang="en-US" sz="1100"/>
                        <a:t>Dick Grune (built on RCS)</a:t>
                      </a:r>
                    </a:p>
                  </a:txBody>
                  <a:tcPr marL="53720" marR="53720" marT="26860" marB="26860" anchor="ctr">
                    <a:lnL>
                      <a:noFill/>
                    </a:lnL>
                    <a:lnR>
                      <a:noFill/>
                    </a:lnR>
                    <a:lnT>
                      <a:noFill/>
                    </a:lnT>
                    <a:lnB>
                      <a:noFill/>
                    </a:lnB>
                    <a:noFill/>
                  </a:tcPr>
                </a:tc>
                <a:extLst>
                  <a:ext uri="{0D108BD9-81ED-4DB2-BD59-A6C34878D82A}">
                    <a16:rowId xmlns:a16="http://schemas.microsoft.com/office/drawing/2014/main" val="3436722195"/>
                  </a:ext>
                </a:extLst>
              </a:tr>
              <a:tr h="523016">
                <a:tc>
                  <a:txBody>
                    <a:bodyPr/>
                    <a:lstStyle/>
                    <a:p>
                      <a:pPr>
                        <a:buNone/>
                      </a:pPr>
                      <a:r>
                        <a:rPr lang="en-IN" sz="1100" b="1"/>
                        <a:t>Scope</a:t>
                      </a:r>
                      <a:endParaRPr lang="en-IN" sz="1100"/>
                    </a:p>
                  </a:txBody>
                  <a:tcPr marL="53720" marR="53720" marT="26860" marB="26860" anchor="ctr">
                    <a:lnL>
                      <a:noFill/>
                    </a:lnL>
                    <a:lnR>
                      <a:noFill/>
                    </a:lnR>
                    <a:lnT>
                      <a:noFill/>
                    </a:lnT>
                    <a:lnB>
                      <a:noFill/>
                    </a:lnB>
                    <a:noFill/>
                  </a:tcPr>
                </a:tc>
                <a:tc>
                  <a:txBody>
                    <a:bodyPr/>
                    <a:lstStyle/>
                    <a:p>
                      <a:pPr>
                        <a:buNone/>
                      </a:pPr>
                      <a:r>
                        <a:rPr lang="en-IN" sz="1100"/>
                        <a:t>Individual files</a:t>
                      </a:r>
                    </a:p>
                  </a:txBody>
                  <a:tcPr marL="53720" marR="53720" marT="26860" marB="26860" anchor="ctr">
                    <a:lnL>
                      <a:noFill/>
                    </a:lnL>
                    <a:lnR>
                      <a:noFill/>
                    </a:lnR>
                    <a:lnT>
                      <a:noFill/>
                    </a:lnT>
                    <a:lnB>
                      <a:noFill/>
                    </a:lnB>
                    <a:noFill/>
                  </a:tcPr>
                </a:tc>
                <a:tc>
                  <a:txBody>
                    <a:bodyPr/>
                    <a:lstStyle/>
                    <a:p>
                      <a:pPr>
                        <a:buNone/>
                      </a:pPr>
                      <a:r>
                        <a:rPr lang="en-IN" sz="1100"/>
                        <a:t>Individual files</a:t>
                      </a:r>
                    </a:p>
                  </a:txBody>
                  <a:tcPr marL="53720" marR="53720" marT="26860" marB="26860" anchor="ctr">
                    <a:lnL>
                      <a:noFill/>
                    </a:lnL>
                    <a:lnR>
                      <a:noFill/>
                    </a:lnR>
                    <a:lnT>
                      <a:noFill/>
                    </a:lnT>
                    <a:lnB>
                      <a:noFill/>
                    </a:lnB>
                    <a:noFill/>
                  </a:tcPr>
                </a:tc>
                <a:tc>
                  <a:txBody>
                    <a:bodyPr/>
                    <a:lstStyle/>
                    <a:p>
                      <a:pPr>
                        <a:buNone/>
                      </a:pPr>
                      <a:r>
                        <a:rPr lang="en-IN" sz="1100"/>
                        <a:t>Entire projects/directories</a:t>
                      </a:r>
                    </a:p>
                  </a:txBody>
                  <a:tcPr marL="53720" marR="53720" marT="26860" marB="26860" anchor="ctr">
                    <a:lnL>
                      <a:noFill/>
                    </a:lnL>
                    <a:lnR>
                      <a:noFill/>
                    </a:lnR>
                    <a:lnT>
                      <a:noFill/>
                    </a:lnT>
                    <a:lnB>
                      <a:noFill/>
                    </a:lnB>
                    <a:noFill/>
                  </a:tcPr>
                </a:tc>
                <a:extLst>
                  <a:ext uri="{0D108BD9-81ED-4DB2-BD59-A6C34878D82A}">
                    <a16:rowId xmlns:a16="http://schemas.microsoft.com/office/drawing/2014/main" val="3782855671"/>
                  </a:ext>
                </a:extLst>
              </a:tr>
              <a:tr h="297621">
                <a:tc>
                  <a:txBody>
                    <a:bodyPr/>
                    <a:lstStyle/>
                    <a:p>
                      <a:pPr>
                        <a:buNone/>
                      </a:pPr>
                      <a:r>
                        <a:rPr lang="en-IN" sz="1100" b="1"/>
                        <a:t>Architecture</a:t>
                      </a:r>
                      <a:endParaRPr lang="en-IN" sz="1100"/>
                    </a:p>
                  </a:txBody>
                  <a:tcPr marL="53720" marR="53720" marT="26860" marB="26860" anchor="ctr">
                    <a:lnL>
                      <a:noFill/>
                    </a:lnL>
                    <a:lnR>
                      <a:noFill/>
                    </a:lnR>
                    <a:lnT>
                      <a:noFill/>
                    </a:lnT>
                    <a:lnB>
                      <a:noFill/>
                    </a:lnB>
                    <a:noFill/>
                  </a:tcPr>
                </a:tc>
                <a:tc>
                  <a:txBody>
                    <a:bodyPr/>
                    <a:lstStyle/>
                    <a:p>
                      <a:pPr>
                        <a:buNone/>
                      </a:pPr>
                      <a:r>
                        <a:rPr lang="en-IN" sz="1100"/>
                        <a:t>Local only</a:t>
                      </a:r>
                    </a:p>
                  </a:txBody>
                  <a:tcPr marL="53720" marR="53720" marT="26860" marB="26860" anchor="ctr">
                    <a:lnL>
                      <a:noFill/>
                    </a:lnL>
                    <a:lnR>
                      <a:noFill/>
                    </a:lnR>
                    <a:lnT>
                      <a:noFill/>
                    </a:lnT>
                    <a:lnB>
                      <a:noFill/>
                    </a:lnB>
                    <a:noFill/>
                  </a:tcPr>
                </a:tc>
                <a:tc>
                  <a:txBody>
                    <a:bodyPr/>
                    <a:lstStyle/>
                    <a:p>
                      <a:pPr>
                        <a:buNone/>
                      </a:pPr>
                      <a:r>
                        <a:rPr lang="en-IN" sz="1100"/>
                        <a:t>Local only</a:t>
                      </a:r>
                    </a:p>
                  </a:txBody>
                  <a:tcPr marL="53720" marR="53720" marT="26860" marB="26860" anchor="ctr">
                    <a:lnL>
                      <a:noFill/>
                    </a:lnL>
                    <a:lnR>
                      <a:noFill/>
                    </a:lnR>
                    <a:lnT>
                      <a:noFill/>
                    </a:lnT>
                    <a:lnB>
                      <a:noFill/>
                    </a:lnB>
                    <a:noFill/>
                  </a:tcPr>
                </a:tc>
                <a:tc>
                  <a:txBody>
                    <a:bodyPr/>
                    <a:lstStyle/>
                    <a:p>
                      <a:pPr>
                        <a:buNone/>
                      </a:pPr>
                      <a:r>
                        <a:rPr lang="en-IN" sz="1100"/>
                        <a:t>Client-server</a:t>
                      </a:r>
                    </a:p>
                  </a:txBody>
                  <a:tcPr marL="53720" marR="53720" marT="26860" marB="26860" anchor="ctr">
                    <a:lnL>
                      <a:noFill/>
                    </a:lnL>
                    <a:lnR>
                      <a:noFill/>
                    </a:lnR>
                    <a:lnT>
                      <a:noFill/>
                    </a:lnT>
                    <a:lnB>
                      <a:noFill/>
                    </a:lnB>
                    <a:noFill/>
                  </a:tcPr>
                </a:tc>
                <a:extLst>
                  <a:ext uri="{0D108BD9-81ED-4DB2-BD59-A6C34878D82A}">
                    <a16:rowId xmlns:a16="http://schemas.microsoft.com/office/drawing/2014/main" val="2159588484"/>
                  </a:ext>
                </a:extLst>
              </a:tr>
              <a:tr h="523016">
                <a:tc>
                  <a:txBody>
                    <a:bodyPr/>
                    <a:lstStyle/>
                    <a:p>
                      <a:pPr>
                        <a:buNone/>
                      </a:pPr>
                      <a:r>
                        <a:rPr lang="en-IN" sz="1100" b="1"/>
                        <a:t>Concurrency Model</a:t>
                      </a:r>
                      <a:endParaRPr lang="en-IN" sz="1100"/>
                    </a:p>
                  </a:txBody>
                  <a:tcPr marL="53720" marR="53720" marT="26860" marB="26860" anchor="ctr">
                    <a:lnL>
                      <a:noFill/>
                    </a:lnL>
                    <a:lnR>
                      <a:noFill/>
                    </a:lnR>
                    <a:lnT>
                      <a:noFill/>
                    </a:lnT>
                    <a:lnB>
                      <a:noFill/>
                    </a:lnB>
                    <a:noFill/>
                  </a:tcPr>
                </a:tc>
                <a:tc>
                  <a:txBody>
                    <a:bodyPr/>
                    <a:lstStyle/>
                    <a:p>
                      <a:pPr>
                        <a:buNone/>
                      </a:pPr>
                      <a:r>
                        <a:rPr lang="en-IN" sz="1100"/>
                        <a:t>Exclusive locking</a:t>
                      </a:r>
                    </a:p>
                  </a:txBody>
                  <a:tcPr marL="53720" marR="53720" marT="26860" marB="26860" anchor="ctr">
                    <a:lnL>
                      <a:noFill/>
                    </a:lnL>
                    <a:lnR>
                      <a:noFill/>
                    </a:lnR>
                    <a:lnT>
                      <a:noFill/>
                    </a:lnT>
                    <a:lnB>
                      <a:noFill/>
                    </a:lnB>
                    <a:noFill/>
                  </a:tcPr>
                </a:tc>
                <a:tc>
                  <a:txBody>
                    <a:bodyPr/>
                    <a:lstStyle/>
                    <a:p>
                      <a:pPr>
                        <a:buNone/>
                      </a:pPr>
                      <a:r>
                        <a:rPr lang="en-US" sz="1100"/>
                        <a:t>Exclusive locking (one user at a time)</a:t>
                      </a:r>
                    </a:p>
                  </a:txBody>
                  <a:tcPr marL="53720" marR="53720" marT="26860" marB="26860" anchor="ctr">
                    <a:lnL>
                      <a:noFill/>
                    </a:lnL>
                    <a:lnR>
                      <a:noFill/>
                    </a:lnR>
                    <a:lnT>
                      <a:noFill/>
                    </a:lnT>
                    <a:lnB>
                      <a:noFill/>
                    </a:lnB>
                    <a:noFill/>
                  </a:tcPr>
                </a:tc>
                <a:tc>
                  <a:txBody>
                    <a:bodyPr/>
                    <a:lstStyle/>
                    <a:p>
                      <a:pPr>
                        <a:buNone/>
                      </a:pPr>
                      <a:r>
                        <a:rPr lang="en-IN" sz="1100"/>
                        <a:t>Concurrent editing with merging</a:t>
                      </a:r>
                    </a:p>
                  </a:txBody>
                  <a:tcPr marL="53720" marR="53720" marT="26860" marB="26860" anchor="ctr">
                    <a:lnL>
                      <a:noFill/>
                    </a:lnL>
                    <a:lnR>
                      <a:noFill/>
                    </a:lnR>
                    <a:lnT>
                      <a:noFill/>
                    </a:lnT>
                    <a:lnB>
                      <a:noFill/>
                    </a:lnB>
                    <a:noFill/>
                  </a:tcPr>
                </a:tc>
                <a:extLst>
                  <a:ext uri="{0D108BD9-81ED-4DB2-BD59-A6C34878D82A}">
                    <a16:rowId xmlns:a16="http://schemas.microsoft.com/office/drawing/2014/main" val="832464158"/>
                  </a:ext>
                </a:extLst>
              </a:tr>
              <a:tr h="523016">
                <a:tc>
                  <a:txBody>
                    <a:bodyPr/>
                    <a:lstStyle/>
                    <a:p>
                      <a:pPr>
                        <a:buNone/>
                      </a:pPr>
                      <a:r>
                        <a:rPr lang="en-IN" sz="1100" b="1" dirty="0"/>
                        <a:t>Storage Location</a:t>
                      </a:r>
                      <a:endParaRPr lang="en-IN" sz="1100" dirty="0"/>
                    </a:p>
                  </a:txBody>
                  <a:tcPr marL="53720" marR="53720" marT="26860" marB="26860" anchor="ctr">
                    <a:lnL>
                      <a:noFill/>
                    </a:lnL>
                    <a:lnR>
                      <a:noFill/>
                    </a:lnR>
                    <a:lnT>
                      <a:noFill/>
                    </a:lnT>
                    <a:lnB>
                      <a:noFill/>
                    </a:lnB>
                    <a:noFill/>
                  </a:tcPr>
                </a:tc>
                <a:tc>
                  <a:txBody>
                    <a:bodyPr/>
                    <a:lstStyle/>
                    <a:p>
                      <a:pPr>
                        <a:buNone/>
                      </a:pPr>
                      <a:r>
                        <a:rPr lang="en-IN" sz="1100"/>
                        <a:t>Same directory (</a:t>
                      </a:r>
                      <a:r>
                        <a:rPr lang="en-IN" sz="1100">
                          <a:latin typeface="Courier New" panose="02070309020205020404" pitchFamily="49" charset="0"/>
                        </a:rPr>
                        <a:t>s.</a:t>
                      </a:r>
                      <a:r>
                        <a:rPr lang="en-IN" sz="1100"/>
                        <a:t> prefix)</a:t>
                      </a:r>
                    </a:p>
                  </a:txBody>
                  <a:tcPr marL="53720" marR="53720" marT="26860" marB="26860" anchor="ctr">
                    <a:lnL>
                      <a:noFill/>
                    </a:lnL>
                    <a:lnR>
                      <a:noFill/>
                    </a:lnR>
                    <a:lnT>
                      <a:noFill/>
                    </a:lnT>
                    <a:lnB>
                      <a:noFill/>
                    </a:lnB>
                    <a:noFill/>
                  </a:tcPr>
                </a:tc>
                <a:tc>
                  <a:txBody>
                    <a:bodyPr/>
                    <a:lstStyle/>
                    <a:p>
                      <a:pPr>
                        <a:buNone/>
                      </a:pPr>
                      <a:r>
                        <a:rPr lang="en-IN" sz="1100"/>
                        <a:t>Same directory (</a:t>
                      </a:r>
                      <a:r>
                        <a:rPr lang="en-IN" sz="1100">
                          <a:latin typeface="Courier New" panose="02070309020205020404" pitchFamily="49" charset="0"/>
                        </a:rPr>
                        <a:t>,v</a:t>
                      </a:r>
                      <a:r>
                        <a:rPr lang="en-IN" sz="1100"/>
                        <a:t> files)</a:t>
                      </a:r>
                    </a:p>
                  </a:txBody>
                  <a:tcPr marL="53720" marR="53720" marT="26860" marB="26860" anchor="ctr">
                    <a:lnL>
                      <a:noFill/>
                    </a:lnL>
                    <a:lnR>
                      <a:noFill/>
                    </a:lnR>
                    <a:lnT>
                      <a:noFill/>
                    </a:lnT>
                    <a:lnB>
                      <a:noFill/>
                    </a:lnB>
                    <a:noFill/>
                  </a:tcPr>
                </a:tc>
                <a:tc>
                  <a:txBody>
                    <a:bodyPr/>
                    <a:lstStyle/>
                    <a:p>
                      <a:pPr>
                        <a:buNone/>
                      </a:pPr>
                      <a:r>
                        <a:rPr lang="en-IN" sz="1100"/>
                        <a:t>Central repository</a:t>
                      </a:r>
                    </a:p>
                  </a:txBody>
                  <a:tcPr marL="53720" marR="53720" marT="26860" marB="26860" anchor="ctr">
                    <a:lnL>
                      <a:noFill/>
                    </a:lnL>
                    <a:lnR>
                      <a:noFill/>
                    </a:lnR>
                    <a:lnT>
                      <a:noFill/>
                    </a:lnT>
                    <a:lnB>
                      <a:noFill/>
                    </a:lnB>
                    <a:noFill/>
                  </a:tcPr>
                </a:tc>
                <a:extLst>
                  <a:ext uri="{0D108BD9-81ED-4DB2-BD59-A6C34878D82A}">
                    <a16:rowId xmlns:a16="http://schemas.microsoft.com/office/drawing/2014/main" val="2587848706"/>
                  </a:ext>
                </a:extLst>
              </a:tr>
              <a:tr h="297621">
                <a:tc>
                  <a:txBody>
                    <a:bodyPr/>
                    <a:lstStyle/>
                    <a:p>
                      <a:pPr>
                        <a:buNone/>
                      </a:pPr>
                      <a:r>
                        <a:rPr lang="en-IN" sz="1100" b="1"/>
                        <a:t>Branching Support</a:t>
                      </a:r>
                      <a:endParaRPr lang="en-IN" sz="1100"/>
                    </a:p>
                  </a:txBody>
                  <a:tcPr marL="53720" marR="53720" marT="26860" marB="26860" anchor="ctr">
                    <a:lnL>
                      <a:noFill/>
                    </a:lnL>
                    <a:lnR>
                      <a:noFill/>
                    </a:lnR>
                    <a:lnT>
                      <a:noFill/>
                    </a:lnT>
                    <a:lnB>
                      <a:noFill/>
                    </a:lnB>
                    <a:noFill/>
                  </a:tcPr>
                </a:tc>
                <a:tc>
                  <a:txBody>
                    <a:bodyPr/>
                    <a:lstStyle/>
                    <a:p>
                      <a:pPr>
                        <a:buNone/>
                      </a:pPr>
                      <a:r>
                        <a:rPr lang="en-IN" sz="1100"/>
                        <a:t>Limited branching</a:t>
                      </a:r>
                    </a:p>
                  </a:txBody>
                  <a:tcPr marL="53720" marR="53720" marT="26860" marB="26860" anchor="ctr">
                    <a:lnL>
                      <a:noFill/>
                    </a:lnL>
                    <a:lnR>
                      <a:noFill/>
                    </a:lnR>
                    <a:lnT>
                      <a:noFill/>
                    </a:lnT>
                    <a:lnB>
                      <a:noFill/>
                    </a:lnB>
                    <a:noFill/>
                  </a:tcPr>
                </a:tc>
                <a:tc>
                  <a:txBody>
                    <a:bodyPr/>
                    <a:lstStyle/>
                    <a:p>
                      <a:pPr>
                        <a:buNone/>
                      </a:pPr>
                      <a:r>
                        <a:rPr lang="en-IN" sz="1100"/>
                        <a:t>Basic branches</a:t>
                      </a:r>
                    </a:p>
                  </a:txBody>
                  <a:tcPr marL="53720" marR="53720" marT="26860" marB="26860" anchor="ctr">
                    <a:lnL>
                      <a:noFill/>
                    </a:lnL>
                    <a:lnR>
                      <a:noFill/>
                    </a:lnR>
                    <a:lnT>
                      <a:noFill/>
                    </a:lnT>
                    <a:lnB>
                      <a:noFill/>
                    </a:lnB>
                    <a:noFill/>
                  </a:tcPr>
                </a:tc>
                <a:tc>
                  <a:txBody>
                    <a:bodyPr/>
                    <a:lstStyle/>
                    <a:p>
                      <a:pPr>
                        <a:buNone/>
                      </a:pPr>
                      <a:r>
                        <a:rPr lang="en-IN" sz="1100"/>
                        <a:t>Better branch support</a:t>
                      </a:r>
                    </a:p>
                  </a:txBody>
                  <a:tcPr marL="53720" marR="53720" marT="26860" marB="26860" anchor="ctr">
                    <a:lnL>
                      <a:noFill/>
                    </a:lnL>
                    <a:lnR>
                      <a:noFill/>
                    </a:lnR>
                    <a:lnT>
                      <a:noFill/>
                    </a:lnT>
                    <a:lnB>
                      <a:noFill/>
                    </a:lnB>
                    <a:noFill/>
                  </a:tcPr>
                </a:tc>
                <a:extLst>
                  <a:ext uri="{0D108BD9-81ED-4DB2-BD59-A6C34878D82A}">
                    <a16:rowId xmlns:a16="http://schemas.microsoft.com/office/drawing/2014/main" val="3269877672"/>
                  </a:ext>
                </a:extLst>
              </a:tr>
              <a:tr h="297621">
                <a:tc>
                  <a:txBody>
                    <a:bodyPr/>
                    <a:lstStyle/>
                    <a:p>
                      <a:pPr>
                        <a:buNone/>
                      </a:pPr>
                      <a:r>
                        <a:rPr lang="en-IN" sz="1100" b="1"/>
                        <a:t>Merging</a:t>
                      </a:r>
                      <a:endParaRPr lang="en-IN" sz="1100"/>
                    </a:p>
                  </a:txBody>
                  <a:tcPr marL="53720" marR="53720" marT="26860" marB="26860" anchor="ctr">
                    <a:lnL>
                      <a:noFill/>
                    </a:lnL>
                    <a:lnR>
                      <a:noFill/>
                    </a:lnR>
                    <a:lnT>
                      <a:noFill/>
                    </a:lnT>
                    <a:lnB>
                      <a:noFill/>
                    </a:lnB>
                    <a:noFill/>
                  </a:tcPr>
                </a:tc>
                <a:tc>
                  <a:txBody>
                    <a:bodyPr/>
                    <a:lstStyle/>
                    <a:p>
                      <a:pPr>
                        <a:buNone/>
                      </a:pPr>
                      <a:r>
                        <a:rPr lang="en-IN" sz="1100"/>
                        <a:t>Manual merge required</a:t>
                      </a:r>
                    </a:p>
                  </a:txBody>
                  <a:tcPr marL="53720" marR="53720" marT="26860" marB="26860" anchor="ctr">
                    <a:lnL>
                      <a:noFill/>
                    </a:lnL>
                    <a:lnR>
                      <a:noFill/>
                    </a:lnR>
                    <a:lnT>
                      <a:noFill/>
                    </a:lnT>
                    <a:lnB>
                      <a:noFill/>
                    </a:lnB>
                    <a:noFill/>
                  </a:tcPr>
                </a:tc>
                <a:tc>
                  <a:txBody>
                    <a:bodyPr/>
                    <a:lstStyle/>
                    <a:p>
                      <a:pPr>
                        <a:buNone/>
                      </a:pPr>
                      <a:r>
                        <a:rPr lang="en-IN" sz="1100" dirty="0"/>
                        <a:t>Manual merge required</a:t>
                      </a:r>
                    </a:p>
                  </a:txBody>
                  <a:tcPr marL="53720" marR="53720" marT="26860" marB="26860" anchor="ctr">
                    <a:lnL>
                      <a:noFill/>
                    </a:lnL>
                    <a:lnR>
                      <a:noFill/>
                    </a:lnR>
                    <a:lnT>
                      <a:noFill/>
                    </a:lnT>
                    <a:lnB>
                      <a:noFill/>
                    </a:lnB>
                    <a:noFill/>
                  </a:tcPr>
                </a:tc>
                <a:tc>
                  <a:txBody>
                    <a:bodyPr/>
                    <a:lstStyle/>
                    <a:p>
                      <a:pPr>
                        <a:buNone/>
                      </a:pPr>
                      <a:r>
                        <a:rPr lang="en-IN" sz="1100"/>
                        <a:t>Semi-automatic merge</a:t>
                      </a:r>
                    </a:p>
                  </a:txBody>
                  <a:tcPr marL="53720" marR="53720" marT="26860" marB="26860" anchor="ctr">
                    <a:lnL>
                      <a:noFill/>
                    </a:lnL>
                    <a:lnR>
                      <a:noFill/>
                    </a:lnR>
                    <a:lnT>
                      <a:noFill/>
                    </a:lnT>
                    <a:lnB>
                      <a:noFill/>
                    </a:lnB>
                    <a:noFill/>
                  </a:tcPr>
                </a:tc>
                <a:extLst>
                  <a:ext uri="{0D108BD9-81ED-4DB2-BD59-A6C34878D82A}">
                    <a16:rowId xmlns:a16="http://schemas.microsoft.com/office/drawing/2014/main" val="502041237"/>
                  </a:ext>
                </a:extLst>
              </a:tr>
              <a:tr h="297621">
                <a:tc>
                  <a:txBody>
                    <a:bodyPr/>
                    <a:lstStyle/>
                    <a:p>
                      <a:pPr>
                        <a:buNone/>
                      </a:pPr>
                      <a:r>
                        <a:rPr lang="en-IN" sz="1100" b="1"/>
                        <a:t>Network Support</a:t>
                      </a:r>
                      <a:endParaRPr lang="en-IN" sz="1100"/>
                    </a:p>
                  </a:txBody>
                  <a:tcPr marL="53720" marR="53720" marT="26860" marB="26860" anchor="ctr">
                    <a:lnL>
                      <a:noFill/>
                    </a:lnL>
                    <a:lnR>
                      <a:noFill/>
                    </a:lnR>
                    <a:lnT>
                      <a:noFill/>
                    </a:lnT>
                    <a:lnB>
                      <a:noFill/>
                    </a:lnB>
                    <a:noFill/>
                  </a:tcPr>
                </a:tc>
                <a:tc>
                  <a:txBody>
                    <a:bodyPr/>
                    <a:lstStyle/>
                    <a:p>
                      <a:pPr>
                        <a:buNone/>
                      </a:pPr>
                      <a:r>
                        <a:rPr lang="en-IN" sz="1100"/>
                        <a:t>No</a:t>
                      </a:r>
                    </a:p>
                  </a:txBody>
                  <a:tcPr marL="53720" marR="53720" marT="26860" marB="26860" anchor="ctr">
                    <a:lnL>
                      <a:noFill/>
                    </a:lnL>
                    <a:lnR>
                      <a:noFill/>
                    </a:lnR>
                    <a:lnT>
                      <a:noFill/>
                    </a:lnT>
                    <a:lnB>
                      <a:noFill/>
                    </a:lnB>
                    <a:noFill/>
                  </a:tcPr>
                </a:tc>
                <a:tc>
                  <a:txBody>
                    <a:bodyPr/>
                    <a:lstStyle/>
                    <a:p>
                      <a:pPr>
                        <a:buNone/>
                      </a:pPr>
                      <a:r>
                        <a:rPr lang="en-IN" sz="1100"/>
                        <a:t>No</a:t>
                      </a:r>
                    </a:p>
                  </a:txBody>
                  <a:tcPr marL="53720" marR="53720" marT="26860" marB="26860" anchor="ctr">
                    <a:lnL>
                      <a:noFill/>
                    </a:lnL>
                    <a:lnR>
                      <a:noFill/>
                    </a:lnR>
                    <a:lnT>
                      <a:noFill/>
                    </a:lnT>
                    <a:lnB>
                      <a:noFill/>
                    </a:lnB>
                    <a:noFill/>
                  </a:tcPr>
                </a:tc>
                <a:tc>
                  <a:txBody>
                    <a:bodyPr/>
                    <a:lstStyle/>
                    <a:p>
                      <a:pPr>
                        <a:buNone/>
                      </a:pPr>
                      <a:r>
                        <a:rPr lang="en-IN" sz="1100"/>
                        <a:t>Yes (remote repositories)</a:t>
                      </a:r>
                    </a:p>
                  </a:txBody>
                  <a:tcPr marL="53720" marR="53720" marT="26860" marB="26860" anchor="ctr">
                    <a:lnL>
                      <a:noFill/>
                    </a:lnL>
                    <a:lnR>
                      <a:noFill/>
                    </a:lnR>
                    <a:lnT>
                      <a:noFill/>
                    </a:lnT>
                    <a:lnB>
                      <a:noFill/>
                    </a:lnB>
                    <a:noFill/>
                  </a:tcPr>
                </a:tc>
                <a:extLst>
                  <a:ext uri="{0D108BD9-81ED-4DB2-BD59-A6C34878D82A}">
                    <a16:rowId xmlns:a16="http://schemas.microsoft.com/office/drawing/2014/main" val="3795787117"/>
                  </a:ext>
                </a:extLst>
              </a:tr>
              <a:tr h="748411">
                <a:tc>
                  <a:txBody>
                    <a:bodyPr/>
                    <a:lstStyle/>
                    <a:p>
                      <a:pPr>
                        <a:buNone/>
                      </a:pPr>
                      <a:r>
                        <a:rPr lang="en-IN" sz="1100" b="1"/>
                        <a:t>Key Commands</a:t>
                      </a:r>
                      <a:endParaRPr lang="en-IN" sz="1100"/>
                    </a:p>
                  </a:txBody>
                  <a:tcPr marL="53720" marR="53720" marT="26860" marB="26860" anchor="ctr">
                    <a:lnL>
                      <a:noFill/>
                    </a:lnL>
                    <a:lnR>
                      <a:noFill/>
                    </a:lnR>
                    <a:lnT>
                      <a:noFill/>
                    </a:lnT>
                    <a:lnB>
                      <a:noFill/>
                    </a:lnB>
                    <a:noFill/>
                  </a:tcPr>
                </a:tc>
                <a:tc>
                  <a:txBody>
                    <a:bodyPr/>
                    <a:lstStyle/>
                    <a:p>
                      <a:pPr>
                        <a:buNone/>
                      </a:pPr>
                      <a:r>
                        <a:rPr lang="en-IN" sz="1100">
                          <a:latin typeface="Courier New" panose="02070309020205020404" pitchFamily="49" charset="0"/>
                        </a:rPr>
                        <a:t>get</a:t>
                      </a:r>
                      <a:r>
                        <a:rPr lang="en-IN" sz="1100"/>
                        <a:t>, </a:t>
                      </a:r>
                      <a:r>
                        <a:rPr lang="en-IN" sz="1100">
                          <a:latin typeface="Courier New" panose="02070309020205020404" pitchFamily="49" charset="0"/>
                        </a:rPr>
                        <a:t>delta</a:t>
                      </a:r>
                      <a:r>
                        <a:rPr lang="en-IN" sz="1100"/>
                        <a:t>, </a:t>
                      </a:r>
                      <a:r>
                        <a:rPr lang="en-IN" sz="1100">
                          <a:latin typeface="Courier New" panose="02070309020205020404" pitchFamily="49" charset="0"/>
                        </a:rPr>
                        <a:t>admin</a:t>
                      </a:r>
                      <a:r>
                        <a:rPr lang="en-IN" sz="1100"/>
                        <a:t>, </a:t>
                      </a:r>
                      <a:r>
                        <a:rPr lang="en-IN" sz="1100">
                          <a:latin typeface="Courier New" panose="02070309020205020404" pitchFamily="49" charset="0"/>
                        </a:rPr>
                        <a:t>prs</a:t>
                      </a:r>
                      <a:endParaRPr lang="en-IN" sz="1100"/>
                    </a:p>
                  </a:txBody>
                  <a:tcPr marL="53720" marR="53720" marT="26860" marB="26860" anchor="ctr">
                    <a:lnL>
                      <a:noFill/>
                    </a:lnL>
                    <a:lnR>
                      <a:noFill/>
                    </a:lnR>
                    <a:lnT>
                      <a:noFill/>
                    </a:lnT>
                    <a:lnB>
                      <a:noFill/>
                    </a:lnB>
                    <a:noFill/>
                  </a:tcPr>
                </a:tc>
                <a:tc>
                  <a:txBody>
                    <a:bodyPr/>
                    <a:lstStyle/>
                    <a:p>
                      <a:pPr>
                        <a:buNone/>
                      </a:pPr>
                      <a:r>
                        <a:rPr lang="en-IN" sz="1100">
                          <a:latin typeface="Courier New" panose="02070309020205020404" pitchFamily="49" charset="0"/>
                        </a:rPr>
                        <a:t>ci</a:t>
                      </a:r>
                      <a:r>
                        <a:rPr lang="en-IN" sz="1100"/>
                        <a:t>, </a:t>
                      </a:r>
                      <a:r>
                        <a:rPr lang="en-IN" sz="1100">
                          <a:latin typeface="Courier New" panose="02070309020205020404" pitchFamily="49" charset="0"/>
                        </a:rPr>
                        <a:t>co</a:t>
                      </a:r>
                      <a:r>
                        <a:rPr lang="en-IN" sz="1100"/>
                        <a:t>, </a:t>
                      </a:r>
                      <a:r>
                        <a:rPr lang="en-IN" sz="1100">
                          <a:latin typeface="Courier New" panose="02070309020205020404" pitchFamily="49" charset="0"/>
                        </a:rPr>
                        <a:t>rlog</a:t>
                      </a:r>
                      <a:r>
                        <a:rPr lang="en-IN" sz="1100"/>
                        <a:t>, </a:t>
                      </a:r>
                      <a:r>
                        <a:rPr lang="en-IN" sz="1100">
                          <a:latin typeface="Courier New" panose="02070309020205020404" pitchFamily="49" charset="0"/>
                        </a:rPr>
                        <a:t>rcs</a:t>
                      </a:r>
                      <a:endParaRPr lang="en-IN" sz="1100"/>
                    </a:p>
                  </a:txBody>
                  <a:tcPr marL="53720" marR="53720" marT="26860" marB="26860" anchor="ctr">
                    <a:lnL>
                      <a:noFill/>
                    </a:lnL>
                    <a:lnR>
                      <a:noFill/>
                    </a:lnR>
                    <a:lnT>
                      <a:noFill/>
                    </a:lnT>
                    <a:lnB>
                      <a:noFill/>
                    </a:lnB>
                    <a:noFill/>
                  </a:tcPr>
                </a:tc>
                <a:tc>
                  <a:txBody>
                    <a:bodyPr/>
                    <a:lstStyle/>
                    <a:p>
                      <a:pPr>
                        <a:buNone/>
                      </a:pPr>
                      <a:r>
                        <a:rPr lang="en-IN" sz="1100">
                          <a:latin typeface="Courier New" panose="02070309020205020404" pitchFamily="49" charset="0"/>
                        </a:rPr>
                        <a:t>cvs commit</a:t>
                      </a:r>
                      <a:r>
                        <a:rPr lang="en-IN" sz="1100"/>
                        <a:t>, </a:t>
                      </a:r>
                      <a:r>
                        <a:rPr lang="en-IN" sz="1100">
                          <a:latin typeface="Courier New" panose="02070309020205020404" pitchFamily="49" charset="0"/>
                        </a:rPr>
                        <a:t>cvs update</a:t>
                      </a:r>
                      <a:r>
                        <a:rPr lang="en-IN" sz="1100"/>
                        <a:t>, </a:t>
                      </a:r>
                      <a:r>
                        <a:rPr lang="en-IN" sz="1100">
                          <a:latin typeface="Courier New" panose="02070309020205020404" pitchFamily="49" charset="0"/>
                        </a:rPr>
                        <a:t>cvs checkout</a:t>
                      </a:r>
                      <a:endParaRPr lang="en-IN" sz="1100"/>
                    </a:p>
                  </a:txBody>
                  <a:tcPr marL="53720" marR="53720" marT="26860" marB="26860" anchor="ctr">
                    <a:lnL>
                      <a:noFill/>
                    </a:lnL>
                    <a:lnR>
                      <a:noFill/>
                    </a:lnR>
                    <a:lnT>
                      <a:noFill/>
                    </a:lnT>
                    <a:lnB>
                      <a:noFill/>
                    </a:lnB>
                    <a:noFill/>
                  </a:tcPr>
                </a:tc>
                <a:extLst>
                  <a:ext uri="{0D108BD9-81ED-4DB2-BD59-A6C34878D82A}">
                    <a16:rowId xmlns:a16="http://schemas.microsoft.com/office/drawing/2014/main" val="4078680100"/>
                  </a:ext>
                </a:extLst>
              </a:tr>
              <a:tr h="297621">
                <a:tc>
                  <a:txBody>
                    <a:bodyPr/>
                    <a:lstStyle/>
                    <a:p>
                      <a:pPr>
                        <a:buNone/>
                      </a:pPr>
                      <a:r>
                        <a:rPr lang="en-IN" sz="1100" b="1"/>
                        <a:t>File Naming</a:t>
                      </a:r>
                      <a:endParaRPr lang="en-IN" sz="1100"/>
                    </a:p>
                  </a:txBody>
                  <a:tcPr marL="53720" marR="53720" marT="26860" marB="26860" anchor="ctr">
                    <a:lnL>
                      <a:noFill/>
                    </a:lnL>
                    <a:lnR>
                      <a:noFill/>
                    </a:lnR>
                    <a:lnT>
                      <a:noFill/>
                    </a:lnT>
                    <a:lnB>
                      <a:noFill/>
                    </a:lnB>
                    <a:noFill/>
                  </a:tcPr>
                </a:tc>
                <a:tc>
                  <a:txBody>
                    <a:bodyPr/>
                    <a:lstStyle/>
                    <a:p>
                      <a:pPr>
                        <a:buNone/>
                      </a:pPr>
                      <a:r>
                        <a:rPr lang="en-IN" sz="1100">
                          <a:latin typeface="Courier New" panose="02070309020205020404" pitchFamily="49" charset="0"/>
                        </a:rPr>
                        <a:t>s.filename</a:t>
                      </a:r>
                      <a:endParaRPr lang="en-IN" sz="1100"/>
                    </a:p>
                  </a:txBody>
                  <a:tcPr marL="53720" marR="53720" marT="26860" marB="26860" anchor="ctr">
                    <a:lnL>
                      <a:noFill/>
                    </a:lnL>
                    <a:lnR>
                      <a:noFill/>
                    </a:lnR>
                    <a:lnT>
                      <a:noFill/>
                    </a:lnT>
                    <a:lnB>
                      <a:noFill/>
                    </a:lnB>
                    <a:noFill/>
                  </a:tcPr>
                </a:tc>
                <a:tc>
                  <a:txBody>
                    <a:bodyPr/>
                    <a:lstStyle/>
                    <a:p>
                      <a:pPr>
                        <a:buNone/>
                      </a:pPr>
                      <a:r>
                        <a:rPr lang="en-IN" sz="1100">
                          <a:latin typeface="Courier New" panose="02070309020205020404" pitchFamily="49" charset="0"/>
                        </a:rPr>
                        <a:t>filename,v</a:t>
                      </a:r>
                      <a:endParaRPr lang="en-IN" sz="1100"/>
                    </a:p>
                  </a:txBody>
                  <a:tcPr marL="53720" marR="53720" marT="26860" marB="26860" anchor="ctr">
                    <a:lnL>
                      <a:noFill/>
                    </a:lnL>
                    <a:lnR>
                      <a:noFill/>
                    </a:lnR>
                    <a:lnT>
                      <a:noFill/>
                    </a:lnT>
                    <a:lnB>
                      <a:noFill/>
                    </a:lnB>
                    <a:noFill/>
                  </a:tcPr>
                </a:tc>
                <a:tc>
                  <a:txBody>
                    <a:bodyPr/>
                    <a:lstStyle/>
                    <a:p>
                      <a:pPr>
                        <a:buNone/>
                      </a:pPr>
                      <a:r>
                        <a:rPr lang="en-IN" sz="1100"/>
                        <a:t>Hidden in CVS directory</a:t>
                      </a:r>
                    </a:p>
                  </a:txBody>
                  <a:tcPr marL="53720" marR="53720" marT="26860" marB="26860" anchor="ctr">
                    <a:lnL>
                      <a:noFill/>
                    </a:lnL>
                    <a:lnR>
                      <a:noFill/>
                    </a:lnR>
                    <a:lnT>
                      <a:noFill/>
                    </a:lnT>
                    <a:lnB>
                      <a:noFill/>
                    </a:lnB>
                    <a:noFill/>
                  </a:tcPr>
                </a:tc>
                <a:extLst>
                  <a:ext uri="{0D108BD9-81ED-4DB2-BD59-A6C34878D82A}">
                    <a16:rowId xmlns:a16="http://schemas.microsoft.com/office/drawing/2014/main" val="1054995468"/>
                  </a:ext>
                </a:extLst>
              </a:tr>
              <a:tr h="523016">
                <a:tc>
                  <a:txBody>
                    <a:bodyPr/>
                    <a:lstStyle/>
                    <a:p>
                      <a:pPr>
                        <a:buNone/>
                      </a:pPr>
                      <a:r>
                        <a:rPr lang="en-IN" sz="1100" b="1"/>
                        <a:t>Atomic Commits</a:t>
                      </a:r>
                      <a:endParaRPr lang="en-IN" sz="1100"/>
                    </a:p>
                  </a:txBody>
                  <a:tcPr marL="53720" marR="53720" marT="26860" marB="26860" anchor="ctr">
                    <a:lnL>
                      <a:noFill/>
                    </a:lnL>
                    <a:lnR>
                      <a:noFill/>
                    </a:lnR>
                    <a:lnT>
                      <a:noFill/>
                    </a:lnT>
                    <a:lnB>
                      <a:noFill/>
                    </a:lnB>
                    <a:noFill/>
                  </a:tcPr>
                </a:tc>
                <a:tc>
                  <a:txBody>
                    <a:bodyPr/>
                    <a:lstStyle/>
                    <a:p>
                      <a:pPr>
                        <a:buNone/>
                      </a:pPr>
                      <a:r>
                        <a:rPr lang="en-IN" sz="1100"/>
                        <a:t>No (file-by-file)</a:t>
                      </a:r>
                    </a:p>
                  </a:txBody>
                  <a:tcPr marL="53720" marR="53720" marT="26860" marB="26860" anchor="ctr">
                    <a:lnL>
                      <a:noFill/>
                    </a:lnL>
                    <a:lnR>
                      <a:noFill/>
                    </a:lnR>
                    <a:lnT>
                      <a:noFill/>
                    </a:lnT>
                    <a:lnB>
                      <a:noFill/>
                    </a:lnB>
                    <a:noFill/>
                  </a:tcPr>
                </a:tc>
                <a:tc>
                  <a:txBody>
                    <a:bodyPr/>
                    <a:lstStyle/>
                    <a:p>
                      <a:pPr>
                        <a:buNone/>
                      </a:pPr>
                      <a:r>
                        <a:rPr lang="en-IN" sz="1100"/>
                        <a:t>No (file-by-file)</a:t>
                      </a:r>
                    </a:p>
                  </a:txBody>
                  <a:tcPr marL="53720" marR="53720" marT="26860" marB="26860" anchor="ctr">
                    <a:lnL>
                      <a:noFill/>
                    </a:lnL>
                    <a:lnR>
                      <a:noFill/>
                    </a:lnR>
                    <a:lnT>
                      <a:noFill/>
                    </a:lnT>
                    <a:lnB>
                      <a:noFill/>
                    </a:lnB>
                    <a:noFill/>
                  </a:tcPr>
                </a:tc>
                <a:tc>
                  <a:txBody>
                    <a:bodyPr/>
                    <a:lstStyle/>
                    <a:p>
                      <a:pPr>
                        <a:buNone/>
                      </a:pPr>
                      <a:r>
                        <a:rPr lang="en-IN" sz="1100"/>
                        <a:t>Yes (multiple files together)</a:t>
                      </a:r>
                    </a:p>
                  </a:txBody>
                  <a:tcPr marL="53720" marR="53720" marT="26860" marB="26860" anchor="ctr">
                    <a:lnL>
                      <a:noFill/>
                    </a:lnL>
                    <a:lnR>
                      <a:noFill/>
                    </a:lnR>
                    <a:lnT>
                      <a:noFill/>
                    </a:lnT>
                    <a:lnB>
                      <a:noFill/>
                    </a:lnB>
                    <a:noFill/>
                  </a:tcPr>
                </a:tc>
                <a:extLst>
                  <a:ext uri="{0D108BD9-81ED-4DB2-BD59-A6C34878D82A}">
                    <a16:rowId xmlns:a16="http://schemas.microsoft.com/office/drawing/2014/main" val="550609004"/>
                  </a:ext>
                </a:extLst>
              </a:tr>
              <a:tr h="297621">
                <a:tc>
                  <a:txBody>
                    <a:bodyPr/>
                    <a:lstStyle/>
                    <a:p>
                      <a:pPr>
                        <a:buNone/>
                      </a:pPr>
                      <a:r>
                        <a:rPr lang="en-IN" sz="1100" b="1"/>
                        <a:t>Platform</a:t>
                      </a:r>
                      <a:endParaRPr lang="en-IN" sz="1100"/>
                    </a:p>
                  </a:txBody>
                  <a:tcPr marL="53720" marR="53720" marT="26860" marB="26860" anchor="ctr">
                    <a:lnL>
                      <a:noFill/>
                    </a:lnL>
                    <a:lnR>
                      <a:noFill/>
                    </a:lnR>
                    <a:lnT>
                      <a:noFill/>
                    </a:lnT>
                    <a:lnB>
                      <a:noFill/>
                    </a:lnB>
                    <a:noFill/>
                  </a:tcPr>
                </a:tc>
                <a:tc>
                  <a:txBody>
                    <a:bodyPr/>
                    <a:lstStyle/>
                    <a:p>
                      <a:pPr>
                        <a:buNone/>
                      </a:pPr>
                      <a:r>
                        <a:rPr lang="en-IN" sz="1100"/>
                        <a:t>Unix/POSIX primarily</a:t>
                      </a:r>
                    </a:p>
                  </a:txBody>
                  <a:tcPr marL="53720" marR="53720" marT="26860" marB="26860" anchor="ctr">
                    <a:lnL>
                      <a:noFill/>
                    </a:lnL>
                    <a:lnR>
                      <a:noFill/>
                    </a:lnR>
                    <a:lnT>
                      <a:noFill/>
                    </a:lnT>
                    <a:lnB>
                      <a:noFill/>
                    </a:lnB>
                    <a:noFill/>
                  </a:tcPr>
                </a:tc>
                <a:tc>
                  <a:txBody>
                    <a:bodyPr/>
                    <a:lstStyle/>
                    <a:p>
                      <a:pPr>
                        <a:buNone/>
                      </a:pPr>
                      <a:r>
                        <a:rPr lang="en-IN" sz="1100"/>
                        <a:t>Unix/POSIX primarily</a:t>
                      </a:r>
                    </a:p>
                  </a:txBody>
                  <a:tcPr marL="53720" marR="53720" marT="26860" marB="26860" anchor="ctr">
                    <a:lnL>
                      <a:noFill/>
                    </a:lnL>
                    <a:lnR>
                      <a:noFill/>
                    </a:lnR>
                    <a:lnT>
                      <a:noFill/>
                    </a:lnT>
                    <a:lnB>
                      <a:noFill/>
                    </a:lnB>
                    <a:noFill/>
                  </a:tcPr>
                </a:tc>
                <a:tc>
                  <a:txBody>
                    <a:bodyPr/>
                    <a:lstStyle/>
                    <a:p>
                      <a:pPr>
                        <a:buNone/>
                      </a:pPr>
                      <a:r>
                        <a:rPr lang="en-IN" sz="1100"/>
                        <a:t>Cross-platform</a:t>
                      </a:r>
                    </a:p>
                  </a:txBody>
                  <a:tcPr marL="53720" marR="53720" marT="26860" marB="26860" anchor="ctr">
                    <a:lnL>
                      <a:noFill/>
                    </a:lnL>
                    <a:lnR>
                      <a:noFill/>
                    </a:lnR>
                    <a:lnT>
                      <a:noFill/>
                    </a:lnT>
                    <a:lnB>
                      <a:noFill/>
                    </a:lnB>
                    <a:noFill/>
                  </a:tcPr>
                </a:tc>
                <a:extLst>
                  <a:ext uri="{0D108BD9-81ED-4DB2-BD59-A6C34878D82A}">
                    <a16:rowId xmlns:a16="http://schemas.microsoft.com/office/drawing/2014/main" val="3590716063"/>
                  </a:ext>
                </a:extLst>
              </a:tr>
              <a:tr h="523016">
                <a:tc>
                  <a:txBody>
                    <a:bodyPr/>
                    <a:lstStyle/>
                    <a:p>
                      <a:pPr>
                        <a:buNone/>
                      </a:pPr>
                      <a:r>
                        <a:rPr lang="en-IN" sz="1100" b="1"/>
                        <a:t>Still in Use?</a:t>
                      </a:r>
                      <a:endParaRPr lang="en-IN" sz="1100"/>
                    </a:p>
                  </a:txBody>
                  <a:tcPr marL="53720" marR="53720" marT="26860" marB="26860" anchor="ctr">
                    <a:lnL>
                      <a:noFill/>
                    </a:lnL>
                    <a:lnR>
                      <a:noFill/>
                    </a:lnR>
                    <a:lnT>
                      <a:noFill/>
                    </a:lnT>
                    <a:lnB>
                      <a:noFill/>
                    </a:lnB>
                    <a:noFill/>
                  </a:tcPr>
                </a:tc>
                <a:tc>
                  <a:txBody>
                    <a:bodyPr/>
                    <a:lstStyle/>
                    <a:p>
                      <a:pPr>
                        <a:buNone/>
                      </a:pPr>
                      <a:r>
                        <a:rPr lang="en-IN" sz="1100"/>
                        <a:t>Very rare</a:t>
                      </a:r>
                    </a:p>
                  </a:txBody>
                  <a:tcPr marL="53720" marR="53720" marT="26860" marB="26860" anchor="ctr">
                    <a:lnL>
                      <a:noFill/>
                    </a:lnL>
                    <a:lnR>
                      <a:noFill/>
                    </a:lnR>
                    <a:lnT>
                      <a:noFill/>
                    </a:lnT>
                    <a:lnB>
                      <a:noFill/>
                    </a:lnB>
                    <a:noFill/>
                  </a:tcPr>
                </a:tc>
                <a:tc>
                  <a:txBody>
                    <a:bodyPr/>
                    <a:lstStyle/>
                    <a:p>
                      <a:pPr>
                        <a:buNone/>
                      </a:pPr>
                      <a:r>
                        <a:rPr lang="en-IN" sz="1100"/>
                        <a:t>Rarely (legacy systems)</a:t>
                      </a:r>
                    </a:p>
                  </a:txBody>
                  <a:tcPr marL="53720" marR="53720" marT="26860" marB="26860" anchor="ctr">
                    <a:lnL>
                      <a:noFill/>
                    </a:lnL>
                    <a:lnR>
                      <a:noFill/>
                    </a:lnR>
                    <a:lnT>
                      <a:noFill/>
                    </a:lnT>
                    <a:lnB>
                      <a:noFill/>
                    </a:lnB>
                    <a:noFill/>
                  </a:tcPr>
                </a:tc>
                <a:tc>
                  <a:txBody>
                    <a:bodyPr/>
                    <a:lstStyle/>
                    <a:p>
                      <a:pPr>
                        <a:buNone/>
                      </a:pPr>
                      <a:r>
                        <a:rPr lang="en-US" sz="1100"/>
                        <a:t>Declining but some legacy use</a:t>
                      </a:r>
                    </a:p>
                  </a:txBody>
                  <a:tcPr marL="53720" marR="53720" marT="26860" marB="26860" anchor="ctr">
                    <a:lnL>
                      <a:noFill/>
                    </a:lnL>
                    <a:lnR>
                      <a:noFill/>
                    </a:lnR>
                    <a:lnT>
                      <a:noFill/>
                    </a:lnT>
                    <a:lnB>
                      <a:noFill/>
                    </a:lnB>
                    <a:noFill/>
                  </a:tcPr>
                </a:tc>
                <a:extLst>
                  <a:ext uri="{0D108BD9-81ED-4DB2-BD59-A6C34878D82A}">
                    <a16:rowId xmlns:a16="http://schemas.microsoft.com/office/drawing/2014/main" val="766172703"/>
                  </a:ext>
                </a:extLst>
              </a:tr>
              <a:tr h="523016">
                <a:tc>
                  <a:txBody>
                    <a:bodyPr/>
                    <a:lstStyle/>
                    <a:p>
                      <a:pPr>
                        <a:buNone/>
                      </a:pPr>
                      <a:r>
                        <a:rPr lang="en-IN" sz="1100" b="1"/>
                        <a:t>Typical Use Case</a:t>
                      </a:r>
                      <a:endParaRPr lang="en-IN" sz="1100"/>
                    </a:p>
                  </a:txBody>
                  <a:tcPr marL="53720" marR="53720" marT="26860" marB="26860" anchor="ctr">
                    <a:lnL>
                      <a:noFill/>
                    </a:lnL>
                    <a:lnR>
                      <a:noFill/>
                    </a:lnR>
                    <a:lnT>
                      <a:noFill/>
                    </a:lnT>
                    <a:lnB>
                      <a:noFill/>
                    </a:lnB>
                    <a:noFill/>
                  </a:tcPr>
                </a:tc>
                <a:tc>
                  <a:txBody>
                    <a:bodyPr/>
                    <a:lstStyle/>
                    <a:p>
                      <a:pPr>
                        <a:buNone/>
                      </a:pPr>
                      <a:r>
                        <a:rPr lang="en-IN" sz="1100"/>
                        <a:t>Historical/legacy only</a:t>
                      </a:r>
                    </a:p>
                  </a:txBody>
                  <a:tcPr marL="53720" marR="53720" marT="26860" marB="26860" anchor="ctr">
                    <a:lnL>
                      <a:noFill/>
                    </a:lnL>
                    <a:lnR>
                      <a:noFill/>
                    </a:lnR>
                    <a:lnT>
                      <a:noFill/>
                    </a:lnT>
                    <a:lnB>
                      <a:noFill/>
                    </a:lnB>
                    <a:noFill/>
                  </a:tcPr>
                </a:tc>
                <a:tc>
                  <a:txBody>
                    <a:bodyPr/>
                    <a:lstStyle/>
                    <a:p>
                      <a:pPr>
                        <a:buNone/>
                      </a:pPr>
                      <a:r>
                        <a:rPr lang="en-IN" sz="1100"/>
                        <a:t>System config files</a:t>
                      </a:r>
                    </a:p>
                  </a:txBody>
                  <a:tcPr marL="53720" marR="53720" marT="26860" marB="26860" anchor="ctr">
                    <a:lnL>
                      <a:noFill/>
                    </a:lnL>
                    <a:lnR>
                      <a:noFill/>
                    </a:lnR>
                    <a:lnT>
                      <a:noFill/>
                    </a:lnT>
                    <a:lnB>
                      <a:noFill/>
                    </a:lnB>
                    <a:noFill/>
                  </a:tcPr>
                </a:tc>
                <a:tc>
                  <a:txBody>
                    <a:bodyPr/>
                    <a:lstStyle/>
                    <a:p>
                      <a:pPr>
                        <a:buNone/>
                      </a:pPr>
                      <a:r>
                        <a:rPr lang="en-IN" sz="1100" dirty="0"/>
                        <a:t>Multi-developer software projects</a:t>
                      </a:r>
                    </a:p>
                  </a:txBody>
                  <a:tcPr marL="53720" marR="53720" marT="26860" marB="26860" anchor="ctr">
                    <a:lnL>
                      <a:noFill/>
                    </a:lnL>
                    <a:lnR>
                      <a:noFill/>
                    </a:lnR>
                    <a:lnT>
                      <a:noFill/>
                    </a:lnT>
                    <a:lnB>
                      <a:noFill/>
                    </a:lnB>
                    <a:noFill/>
                  </a:tcPr>
                </a:tc>
                <a:extLst>
                  <a:ext uri="{0D108BD9-81ED-4DB2-BD59-A6C34878D82A}">
                    <a16:rowId xmlns:a16="http://schemas.microsoft.com/office/drawing/2014/main" val="925187361"/>
                  </a:ext>
                </a:extLst>
              </a:tr>
            </a:tbl>
          </a:graphicData>
        </a:graphic>
      </p:graphicFrame>
    </p:spTree>
    <p:extLst>
      <p:ext uri="{BB962C8B-B14F-4D97-AF65-F5344CB8AC3E}">
        <p14:creationId xmlns:p14="http://schemas.microsoft.com/office/powerpoint/2010/main" val="38130131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8A7470-079D-88F8-F7C4-D50A2A379691}"/>
              </a:ext>
            </a:extLst>
          </p:cNvPr>
          <p:cNvSpPr>
            <a:spLocks noGrp="1"/>
          </p:cNvSpPr>
          <p:nvPr>
            <p:ph type="title"/>
          </p:nvPr>
        </p:nvSpPr>
        <p:spPr>
          <a:xfrm>
            <a:off x="838200" y="365125"/>
            <a:ext cx="10515600" cy="717951"/>
          </a:xfrm>
        </p:spPr>
        <p:txBody>
          <a:bodyPr/>
          <a:lstStyle/>
          <a:p>
            <a:r>
              <a:rPr lang="en-IN" dirty="0"/>
              <a:t>DISTRIBUTED VERSION CONTROL SYSTEM</a:t>
            </a:r>
          </a:p>
        </p:txBody>
      </p:sp>
      <p:sp>
        <p:nvSpPr>
          <p:cNvPr id="3" name="Content Placeholder 2">
            <a:extLst>
              <a:ext uri="{FF2B5EF4-FFF2-40B4-BE49-F238E27FC236}">
                <a16:creationId xmlns:a16="http://schemas.microsoft.com/office/drawing/2014/main" id="{EF14AC54-B293-6EC1-841A-330AF7452687}"/>
              </a:ext>
            </a:extLst>
          </p:cNvPr>
          <p:cNvSpPr>
            <a:spLocks noGrp="1"/>
          </p:cNvSpPr>
          <p:nvPr>
            <p:ph idx="1"/>
          </p:nvPr>
        </p:nvSpPr>
        <p:spPr>
          <a:xfrm>
            <a:off x="452761" y="1020932"/>
            <a:ext cx="10901039" cy="5156031"/>
          </a:xfrm>
        </p:spPr>
        <p:txBody>
          <a:bodyPr/>
          <a:lstStyle/>
          <a:p>
            <a:r>
              <a:rPr lang="en-US" dirty="0"/>
              <a:t>With distributed version control systems, clients don’t just check out the latest snapshot of the files from the server, they fully mirror the repository, including its full history. Thus, everyone collaborating on a project owns a local copy of the whole project, i.e. owns their own local database with their own complete history. Git is the most well-known example of distributed version control systems.</a:t>
            </a:r>
            <a:endParaRPr lang="en-IN" dirty="0"/>
          </a:p>
        </p:txBody>
      </p:sp>
      <p:pic>
        <p:nvPicPr>
          <p:cNvPr id="5" name="Picture 4">
            <a:extLst>
              <a:ext uri="{FF2B5EF4-FFF2-40B4-BE49-F238E27FC236}">
                <a16:creationId xmlns:a16="http://schemas.microsoft.com/office/drawing/2014/main" id="{189D059F-61D6-F0D5-4BF4-EF67D6F5A39E}"/>
              </a:ext>
            </a:extLst>
          </p:cNvPr>
          <p:cNvPicPr>
            <a:picLocks noChangeAspect="1"/>
          </p:cNvPicPr>
          <p:nvPr/>
        </p:nvPicPr>
        <p:blipFill>
          <a:blip r:embed="rId2"/>
          <a:stretch>
            <a:fillRect/>
          </a:stretch>
        </p:blipFill>
        <p:spPr>
          <a:xfrm>
            <a:off x="3404060" y="3350396"/>
            <a:ext cx="4442845" cy="3406435"/>
          </a:xfrm>
          <a:prstGeom prst="rect">
            <a:avLst/>
          </a:prstGeom>
        </p:spPr>
      </p:pic>
    </p:spTree>
    <p:extLst>
      <p:ext uri="{BB962C8B-B14F-4D97-AF65-F5344CB8AC3E}">
        <p14:creationId xmlns:p14="http://schemas.microsoft.com/office/powerpoint/2010/main" val="37128936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4AFA00-FD46-807E-5DF5-48EEC6DC4BB4}"/>
              </a:ext>
            </a:extLst>
          </p:cNvPr>
          <p:cNvSpPr>
            <a:spLocks noGrp="1"/>
          </p:cNvSpPr>
          <p:nvPr>
            <p:ph type="title"/>
          </p:nvPr>
        </p:nvSpPr>
        <p:spPr/>
        <p:txBody>
          <a:bodyPr/>
          <a:lstStyle/>
          <a:p>
            <a:r>
              <a:rPr lang="en-IN" dirty="0"/>
              <a:t>Advantages</a:t>
            </a:r>
          </a:p>
        </p:txBody>
      </p:sp>
      <p:sp>
        <p:nvSpPr>
          <p:cNvPr id="3" name="Content Placeholder 2">
            <a:extLst>
              <a:ext uri="{FF2B5EF4-FFF2-40B4-BE49-F238E27FC236}">
                <a16:creationId xmlns:a16="http://schemas.microsoft.com/office/drawing/2014/main" id="{592AA428-97F9-2B2B-B7FE-125419279EDF}"/>
              </a:ext>
            </a:extLst>
          </p:cNvPr>
          <p:cNvSpPr>
            <a:spLocks noGrp="1"/>
          </p:cNvSpPr>
          <p:nvPr>
            <p:ph idx="1"/>
          </p:nvPr>
        </p:nvSpPr>
        <p:spPr/>
        <p:txBody>
          <a:bodyPr/>
          <a:lstStyle/>
          <a:p>
            <a:r>
              <a:rPr lang="en-US" dirty="0"/>
              <a:t>Reliable backup copies: if the server dies, any of the client repositories can send a copy of the project’s version </a:t>
            </a:r>
          </a:p>
          <a:p>
            <a:r>
              <a:rPr lang="en-US" dirty="0"/>
              <a:t>Fast merging and flexible branching </a:t>
            </a:r>
          </a:p>
          <a:p>
            <a:r>
              <a:rPr lang="en-US" dirty="0"/>
              <a:t>Rapid feedback and fewer merge conflicts </a:t>
            </a:r>
          </a:p>
          <a:p>
            <a:r>
              <a:rPr lang="en-US" dirty="0"/>
              <a:t>Flexibility to work offline</a:t>
            </a:r>
            <a:endParaRPr lang="en-IN" dirty="0"/>
          </a:p>
        </p:txBody>
      </p:sp>
    </p:spTree>
    <p:extLst>
      <p:ext uri="{BB962C8B-B14F-4D97-AF65-F5344CB8AC3E}">
        <p14:creationId xmlns:p14="http://schemas.microsoft.com/office/powerpoint/2010/main" val="12432440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274565-49D4-0DFF-D489-C1DDD29C04F6}"/>
              </a:ext>
            </a:extLst>
          </p:cNvPr>
          <p:cNvSpPr>
            <a:spLocks noGrp="1"/>
          </p:cNvSpPr>
          <p:nvPr>
            <p:ph type="title"/>
          </p:nvPr>
        </p:nvSpPr>
        <p:spPr>
          <a:xfrm>
            <a:off x="838200" y="365125"/>
            <a:ext cx="10515600" cy="1037547"/>
          </a:xfrm>
        </p:spPr>
        <p:txBody>
          <a:bodyPr>
            <a:normAutofit fontScale="90000"/>
          </a:bodyPr>
          <a:lstStyle/>
          <a:p>
            <a:r>
              <a:rPr lang="en-US" dirty="0"/>
              <a:t>HOW GIT STORES INFORMATION ABOUT CHANGES</a:t>
            </a:r>
            <a:endParaRPr lang="en-IN" dirty="0"/>
          </a:p>
        </p:txBody>
      </p:sp>
      <p:sp>
        <p:nvSpPr>
          <p:cNvPr id="3" name="Content Placeholder 2">
            <a:extLst>
              <a:ext uri="{FF2B5EF4-FFF2-40B4-BE49-F238E27FC236}">
                <a16:creationId xmlns:a16="http://schemas.microsoft.com/office/drawing/2014/main" id="{52791E52-1BBD-57C1-3E64-EC8DA46EA0DE}"/>
              </a:ext>
            </a:extLst>
          </p:cNvPr>
          <p:cNvSpPr>
            <a:spLocks noGrp="1"/>
          </p:cNvSpPr>
          <p:nvPr>
            <p:ph idx="1"/>
          </p:nvPr>
        </p:nvSpPr>
        <p:spPr/>
        <p:txBody>
          <a:bodyPr/>
          <a:lstStyle/>
          <a:p>
            <a:r>
              <a:rPr lang="en-US" b="1" dirty="0"/>
              <a:t>Repository</a:t>
            </a:r>
            <a:r>
              <a:rPr lang="en-US" dirty="0"/>
              <a:t> is used to contain a project. Git allows users to store several different repositories and track each one independently. Throughout development, the project has several save points, called </a:t>
            </a:r>
            <a:r>
              <a:rPr lang="en-US" b="1" dirty="0"/>
              <a:t>commits</a:t>
            </a:r>
            <a:r>
              <a:rPr lang="en-US" dirty="0"/>
              <a:t>. The commit history contains all the commits, i.e., changes implemented in the project during development. A commit allows you to roll back or fast forward the code to any commit in the commit history. </a:t>
            </a:r>
          </a:p>
          <a:p>
            <a:r>
              <a:rPr lang="en-US" dirty="0"/>
              <a:t>Git uses SHA-1 hashes to refer to the commits. Each unique hash points to a particular commit in the repository. Using hashes, Git creates a tree-like structure to store and retrieve data easily.</a:t>
            </a:r>
            <a:endParaRPr lang="en-IN" dirty="0"/>
          </a:p>
        </p:txBody>
      </p:sp>
    </p:spTree>
    <p:extLst>
      <p:ext uri="{BB962C8B-B14F-4D97-AF65-F5344CB8AC3E}">
        <p14:creationId xmlns:p14="http://schemas.microsoft.com/office/powerpoint/2010/main" val="9186178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9C1F6C6-F993-A6B6-9B41-803BC9E90DD2}"/>
              </a:ext>
            </a:extLst>
          </p:cNvPr>
          <p:cNvSpPr>
            <a:spLocks noGrp="1"/>
          </p:cNvSpPr>
          <p:nvPr>
            <p:ph idx="1"/>
          </p:nvPr>
        </p:nvSpPr>
        <p:spPr/>
        <p:txBody>
          <a:bodyPr>
            <a:normAutofit lnSpcReduction="10000"/>
          </a:bodyPr>
          <a:lstStyle/>
          <a:p>
            <a:pPr marL="0" indent="0">
              <a:buNone/>
            </a:pPr>
            <a:r>
              <a:rPr lang="en-US" dirty="0"/>
              <a:t>The files in each Git project go through several stages: </a:t>
            </a:r>
          </a:p>
          <a:p>
            <a:r>
              <a:rPr lang="en-US" dirty="0"/>
              <a:t> Working directory. Modified files, </a:t>
            </a:r>
          </a:p>
          <a:p>
            <a:pPr marL="0" indent="0">
              <a:buNone/>
            </a:pPr>
            <a:r>
              <a:rPr lang="en-US" dirty="0"/>
              <a:t>but untracked and not yet ready for </a:t>
            </a:r>
          </a:p>
          <a:p>
            <a:pPr marL="0" indent="0">
              <a:buNone/>
            </a:pPr>
            <a:r>
              <a:rPr lang="en-US" dirty="0"/>
              <a:t>commit. </a:t>
            </a:r>
          </a:p>
          <a:p>
            <a:r>
              <a:rPr lang="en-US" dirty="0"/>
              <a:t>Staging directory. Adding modified files</a:t>
            </a:r>
          </a:p>
          <a:p>
            <a:pPr marL="0" indent="0">
              <a:buNone/>
            </a:pPr>
            <a:r>
              <a:rPr lang="en-US" dirty="0"/>
              <a:t> to the staging environment means they </a:t>
            </a:r>
          </a:p>
          <a:p>
            <a:pPr marL="0" indent="0">
              <a:buNone/>
            </a:pPr>
            <a:r>
              <a:rPr lang="en-US" dirty="0"/>
              <a:t>are ready for commit. </a:t>
            </a:r>
          </a:p>
          <a:p>
            <a:r>
              <a:rPr lang="en-US" dirty="0"/>
              <a:t>Committed. Snapshots of files from the </a:t>
            </a:r>
          </a:p>
          <a:p>
            <a:pPr marL="0" indent="0">
              <a:buNone/>
            </a:pPr>
            <a:r>
              <a:rPr lang="en-US" dirty="0"/>
              <a:t>staging area saved in the commit history.</a:t>
            </a:r>
            <a:endParaRPr lang="en-IN" dirty="0"/>
          </a:p>
        </p:txBody>
      </p:sp>
      <p:pic>
        <p:nvPicPr>
          <p:cNvPr id="5" name="Picture 4">
            <a:extLst>
              <a:ext uri="{FF2B5EF4-FFF2-40B4-BE49-F238E27FC236}">
                <a16:creationId xmlns:a16="http://schemas.microsoft.com/office/drawing/2014/main" id="{3F988A13-99BD-6B7C-4F41-68373CB3C297}"/>
              </a:ext>
            </a:extLst>
          </p:cNvPr>
          <p:cNvPicPr>
            <a:picLocks noChangeAspect="1"/>
          </p:cNvPicPr>
          <p:nvPr/>
        </p:nvPicPr>
        <p:blipFill>
          <a:blip r:embed="rId2"/>
          <a:stretch>
            <a:fillRect/>
          </a:stretch>
        </p:blipFill>
        <p:spPr>
          <a:xfrm>
            <a:off x="6981486" y="2333391"/>
            <a:ext cx="4816257" cy="3673158"/>
          </a:xfrm>
          <a:prstGeom prst="rect">
            <a:avLst/>
          </a:prstGeom>
        </p:spPr>
      </p:pic>
    </p:spTree>
    <p:extLst>
      <p:ext uri="{BB962C8B-B14F-4D97-AF65-F5344CB8AC3E}">
        <p14:creationId xmlns:p14="http://schemas.microsoft.com/office/powerpoint/2010/main" val="42709840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77C851EA-15AA-8581-7DB8-5F9DAD9C1A6A}"/>
              </a:ext>
            </a:extLst>
          </p:cNvPr>
          <p:cNvPicPr>
            <a:picLocks noChangeAspect="1"/>
          </p:cNvPicPr>
          <p:nvPr/>
        </p:nvPicPr>
        <p:blipFill>
          <a:blip r:embed="rId2"/>
          <a:stretch>
            <a:fillRect/>
          </a:stretch>
        </p:blipFill>
        <p:spPr>
          <a:xfrm>
            <a:off x="895350" y="728662"/>
            <a:ext cx="10401300" cy="5400675"/>
          </a:xfrm>
          <a:prstGeom prst="rect">
            <a:avLst/>
          </a:prstGeom>
        </p:spPr>
      </p:pic>
    </p:spTree>
    <p:extLst>
      <p:ext uri="{BB962C8B-B14F-4D97-AF65-F5344CB8AC3E}">
        <p14:creationId xmlns:p14="http://schemas.microsoft.com/office/powerpoint/2010/main" val="14093031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8188CA-C638-2C10-C496-5780D1A1726C}"/>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AD9F3F8D-48DD-BE39-4121-6D418B2FB459}"/>
              </a:ext>
            </a:extLst>
          </p:cNvPr>
          <p:cNvPicPr>
            <a:picLocks noGrp="1" noChangeAspect="1"/>
          </p:cNvPicPr>
          <p:nvPr>
            <p:ph idx="1"/>
          </p:nvPr>
        </p:nvPicPr>
        <p:blipFill>
          <a:blip r:embed="rId2"/>
          <a:stretch>
            <a:fillRect/>
          </a:stretch>
        </p:blipFill>
        <p:spPr>
          <a:xfrm>
            <a:off x="952500" y="2486819"/>
            <a:ext cx="10287000" cy="3028950"/>
          </a:xfrm>
          <a:prstGeom prst="rect">
            <a:avLst/>
          </a:prstGeom>
        </p:spPr>
      </p:pic>
    </p:spTree>
    <p:extLst>
      <p:ext uri="{BB962C8B-B14F-4D97-AF65-F5344CB8AC3E}">
        <p14:creationId xmlns:p14="http://schemas.microsoft.com/office/powerpoint/2010/main" val="37922162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99165F-C8DB-D315-C016-2E3DFD0C82CC}"/>
              </a:ext>
            </a:extLst>
          </p:cNvPr>
          <p:cNvSpPr>
            <a:spLocks noGrp="1"/>
          </p:cNvSpPr>
          <p:nvPr>
            <p:ph type="title"/>
          </p:nvPr>
        </p:nvSpPr>
        <p:spPr/>
        <p:txBody>
          <a:bodyPr/>
          <a:lstStyle/>
          <a:p>
            <a:r>
              <a:rPr lang="en-US" dirty="0"/>
              <a:t>Files</a:t>
            </a:r>
            <a:endParaRPr lang="en-IN" dirty="0"/>
          </a:p>
        </p:txBody>
      </p:sp>
      <p:sp>
        <p:nvSpPr>
          <p:cNvPr id="3" name="Content Placeholder 2">
            <a:extLst>
              <a:ext uri="{FF2B5EF4-FFF2-40B4-BE49-F238E27FC236}">
                <a16:creationId xmlns:a16="http://schemas.microsoft.com/office/drawing/2014/main" id="{8619A616-7DF6-D4D8-1948-917345A0A000}"/>
              </a:ext>
            </a:extLst>
          </p:cNvPr>
          <p:cNvSpPr>
            <a:spLocks noGrp="1"/>
          </p:cNvSpPr>
          <p:nvPr>
            <p:ph idx="1"/>
          </p:nvPr>
        </p:nvSpPr>
        <p:spPr/>
        <p:txBody>
          <a:bodyPr/>
          <a:lstStyle/>
          <a:p>
            <a:pPr marL="0" indent="0">
              <a:buNone/>
            </a:pPr>
            <a:r>
              <a:rPr lang="en-US" dirty="0"/>
              <a:t>Git sees every file in your working copy as one of three things: </a:t>
            </a:r>
          </a:p>
          <a:p>
            <a:r>
              <a:rPr lang="en-US" dirty="0"/>
              <a:t>tracked - a file which has been previously staged or committed; </a:t>
            </a:r>
          </a:p>
          <a:p>
            <a:r>
              <a:rPr lang="en-US" dirty="0"/>
              <a:t>untracked - a file which has not been staged or committed; </a:t>
            </a:r>
          </a:p>
          <a:p>
            <a:r>
              <a:rPr lang="en-US" dirty="0"/>
              <a:t>ignored - a file which Git has been explicitly told to ignore.</a:t>
            </a:r>
            <a:endParaRPr lang="en-IN" dirty="0"/>
          </a:p>
        </p:txBody>
      </p:sp>
    </p:spTree>
    <p:extLst>
      <p:ext uri="{BB962C8B-B14F-4D97-AF65-F5344CB8AC3E}">
        <p14:creationId xmlns:p14="http://schemas.microsoft.com/office/powerpoint/2010/main" val="29208329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2273C6-6FAC-C4C4-112E-7F4530980637}"/>
              </a:ext>
            </a:extLst>
          </p:cNvPr>
          <p:cNvSpPr>
            <a:spLocks noGrp="1"/>
          </p:cNvSpPr>
          <p:nvPr>
            <p:ph type="title"/>
          </p:nvPr>
        </p:nvSpPr>
        <p:spPr/>
        <p:txBody>
          <a:bodyPr/>
          <a:lstStyle/>
          <a:p>
            <a:pPr algn="ctr"/>
            <a:r>
              <a:rPr lang="en-IN" dirty="0"/>
              <a:t>Connecting git with GitHub</a:t>
            </a:r>
          </a:p>
        </p:txBody>
      </p:sp>
      <p:sp>
        <p:nvSpPr>
          <p:cNvPr id="3" name="Content Placeholder 2">
            <a:extLst>
              <a:ext uri="{FF2B5EF4-FFF2-40B4-BE49-F238E27FC236}">
                <a16:creationId xmlns:a16="http://schemas.microsoft.com/office/drawing/2014/main" id="{C3C30793-44F0-EAE4-1CD8-51702DAA844C}"/>
              </a:ext>
            </a:extLst>
          </p:cNvPr>
          <p:cNvSpPr>
            <a:spLocks noGrp="1"/>
          </p:cNvSpPr>
          <p:nvPr>
            <p:ph idx="1"/>
          </p:nvPr>
        </p:nvSpPr>
        <p:spPr/>
        <p:txBody>
          <a:bodyPr/>
          <a:lstStyle/>
          <a:p>
            <a:r>
              <a:rPr lang="en-US" dirty="0"/>
              <a:t>In order to prevent having to enter your password each time you push up to </a:t>
            </a:r>
            <a:r>
              <a:rPr lang="en-US" dirty="0" err="1"/>
              <a:t>Github</a:t>
            </a:r>
            <a:r>
              <a:rPr lang="en-US" dirty="0"/>
              <a:t>, you must configure git and </a:t>
            </a:r>
            <a:r>
              <a:rPr lang="en-US" dirty="0" err="1"/>
              <a:t>Github</a:t>
            </a:r>
            <a:r>
              <a:rPr lang="en-US" dirty="0"/>
              <a:t> to recognize Secured Shell (SSH) keys that you generate. </a:t>
            </a:r>
          </a:p>
          <a:p>
            <a:r>
              <a:rPr lang="en-US" dirty="0"/>
              <a:t>To check and see if you have any recognized SSH keys active on </a:t>
            </a:r>
            <a:r>
              <a:rPr lang="en-US" dirty="0" err="1"/>
              <a:t>Github</a:t>
            </a:r>
            <a:r>
              <a:rPr lang="en-US" dirty="0"/>
              <a:t>, go to </a:t>
            </a:r>
            <a:r>
              <a:rPr lang="en-US" dirty="0">
                <a:hlinkClick r:id="rId2"/>
              </a:rPr>
              <a:t>https://github.com/settings/keys</a:t>
            </a:r>
            <a:endParaRPr lang="en-US" dirty="0"/>
          </a:p>
          <a:p>
            <a:r>
              <a:rPr lang="en-US" dirty="0"/>
              <a:t>If you do not see any SSH keys listed, you do not have SSH configured with </a:t>
            </a:r>
            <a:r>
              <a:rPr lang="en-US" dirty="0" err="1"/>
              <a:t>Github</a:t>
            </a:r>
            <a:r>
              <a:rPr lang="en-US" dirty="0"/>
              <a:t>.</a:t>
            </a:r>
            <a:endParaRPr lang="en-IN" dirty="0"/>
          </a:p>
        </p:txBody>
      </p:sp>
    </p:spTree>
    <p:extLst>
      <p:ext uri="{BB962C8B-B14F-4D97-AF65-F5344CB8AC3E}">
        <p14:creationId xmlns:p14="http://schemas.microsoft.com/office/powerpoint/2010/main" val="14510792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29579E-2BBC-14B6-7F13-52A272270FB7}"/>
              </a:ext>
            </a:extLst>
          </p:cNvPr>
          <p:cNvSpPr>
            <a:spLocks noGrp="1"/>
          </p:cNvSpPr>
          <p:nvPr>
            <p:ph type="title"/>
          </p:nvPr>
        </p:nvSpPr>
        <p:spPr/>
        <p:txBody>
          <a:bodyPr/>
          <a:lstStyle/>
          <a:p>
            <a:pPr algn="ctr"/>
            <a:r>
              <a:rPr lang="en-IN" dirty="0"/>
              <a:t>Creating a Git repo</a:t>
            </a:r>
          </a:p>
        </p:txBody>
      </p:sp>
      <p:sp>
        <p:nvSpPr>
          <p:cNvPr id="3" name="Content Placeholder 2">
            <a:extLst>
              <a:ext uri="{FF2B5EF4-FFF2-40B4-BE49-F238E27FC236}">
                <a16:creationId xmlns:a16="http://schemas.microsoft.com/office/drawing/2014/main" id="{360E83A9-118E-FBA4-5A65-B2811561EB2D}"/>
              </a:ext>
            </a:extLst>
          </p:cNvPr>
          <p:cNvSpPr>
            <a:spLocks noGrp="1"/>
          </p:cNvSpPr>
          <p:nvPr>
            <p:ph idx="1"/>
          </p:nvPr>
        </p:nvSpPr>
        <p:spPr/>
        <p:txBody>
          <a:bodyPr/>
          <a:lstStyle/>
          <a:p>
            <a:pPr marL="0" indent="0">
              <a:buNone/>
            </a:pPr>
            <a:r>
              <a:rPr lang="en-US" b="1" dirty="0"/>
              <a:t>2 Ways</a:t>
            </a:r>
          </a:p>
          <a:p>
            <a:pPr marL="514350" indent="-514350">
              <a:buAutoNum type="arabicPeriod"/>
            </a:pPr>
            <a:r>
              <a:rPr lang="en-US" dirty="0"/>
              <a:t>To create a new local Git repo in your current directory: </a:t>
            </a:r>
          </a:p>
          <a:p>
            <a:pPr marL="0" indent="0">
              <a:buNone/>
            </a:pPr>
            <a:r>
              <a:rPr lang="en-US" dirty="0"/>
              <a:t>       – git </a:t>
            </a:r>
            <a:r>
              <a:rPr lang="en-US" dirty="0" err="1"/>
              <a:t>init</a:t>
            </a:r>
            <a:r>
              <a:rPr lang="en-US" dirty="0"/>
              <a:t> </a:t>
            </a:r>
          </a:p>
          <a:p>
            <a:pPr marL="0" indent="0">
              <a:buNone/>
            </a:pPr>
            <a:r>
              <a:rPr lang="en-US" dirty="0"/>
              <a:t>	• This will create a .git directory in your current directory. </a:t>
            </a:r>
          </a:p>
          <a:p>
            <a:pPr marL="0" indent="0">
              <a:buNone/>
            </a:pPr>
            <a:r>
              <a:rPr lang="en-US" dirty="0"/>
              <a:t>	• Then you can commit files in that directory into the repo.</a:t>
            </a:r>
          </a:p>
          <a:p>
            <a:pPr marL="0" indent="0">
              <a:buNone/>
            </a:pPr>
            <a:r>
              <a:rPr lang="en-US" dirty="0"/>
              <a:t> – git add filename </a:t>
            </a:r>
          </a:p>
          <a:p>
            <a:pPr marL="0" indent="0">
              <a:buNone/>
            </a:pPr>
            <a:r>
              <a:rPr lang="en-US" dirty="0"/>
              <a:t>– git commit –m "commit message" </a:t>
            </a:r>
            <a:endParaRPr lang="en-IN" dirty="0"/>
          </a:p>
        </p:txBody>
      </p:sp>
    </p:spTree>
    <p:extLst>
      <p:ext uri="{BB962C8B-B14F-4D97-AF65-F5344CB8AC3E}">
        <p14:creationId xmlns:p14="http://schemas.microsoft.com/office/powerpoint/2010/main" val="15569342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54A5A5-D48E-C7D0-2A0B-1B954AF8976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E8D9B17B-0F2C-585C-DE70-CCCB073E01B8}"/>
              </a:ext>
            </a:extLst>
          </p:cNvPr>
          <p:cNvSpPr>
            <a:spLocks noGrp="1"/>
          </p:cNvSpPr>
          <p:nvPr>
            <p:ph idx="1"/>
          </p:nvPr>
        </p:nvSpPr>
        <p:spPr/>
        <p:txBody>
          <a:bodyPr/>
          <a:lstStyle/>
          <a:p>
            <a:pPr marL="0" indent="0">
              <a:buNone/>
            </a:pPr>
            <a:r>
              <a:rPr lang="en-US" dirty="0"/>
              <a:t>2. To clone a remote repo to your current directory: </a:t>
            </a:r>
          </a:p>
          <a:p>
            <a:pPr marL="0" indent="0">
              <a:buNone/>
            </a:pPr>
            <a:r>
              <a:rPr lang="en-US" dirty="0"/>
              <a:t>– git clone </a:t>
            </a:r>
            <a:r>
              <a:rPr lang="en-US" dirty="0" err="1"/>
              <a:t>url</a:t>
            </a:r>
            <a:r>
              <a:rPr lang="en-US" dirty="0"/>
              <a:t> </a:t>
            </a:r>
            <a:r>
              <a:rPr lang="en-US" dirty="0" err="1"/>
              <a:t>localDirectoryName</a:t>
            </a:r>
            <a:r>
              <a:rPr lang="en-US" dirty="0"/>
              <a:t> </a:t>
            </a:r>
          </a:p>
          <a:p>
            <a:pPr marL="0" indent="0">
              <a:buNone/>
            </a:pPr>
            <a:r>
              <a:rPr lang="en-US" dirty="0"/>
              <a:t>	• This will create the given local directory, containing a working copy of the files from the repo, and a .git directory (used to hold the staging area and your actual local repo) </a:t>
            </a:r>
            <a:endParaRPr lang="en-IN" dirty="0"/>
          </a:p>
        </p:txBody>
      </p:sp>
    </p:spTree>
    <p:extLst>
      <p:ext uri="{BB962C8B-B14F-4D97-AF65-F5344CB8AC3E}">
        <p14:creationId xmlns:p14="http://schemas.microsoft.com/office/powerpoint/2010/main" val="29188643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0F21F3-2DEC-5F41-BC62-8C75E06DB685}"/>
              </a:ext>
            </a:extLst>
          </p:cNvPr>
          <p:cNvSpPr>
            <a:spLocks noGrp="1"/>
          </p:cNvSpPr>
          <p:nvPr>
            <p:ph type="title"/>
          </p:nvPr>
        </p:nvSpPr>
        <p:spPr/>
        <p:txBody>
          <a:bodyPr/>
          <a:lstStyle/>
          <a:p>
            <a:r>
              <a:rPr lang="en-US" dirty="0"/>
              <a:t>Git Commands</a:t>
            </a:r>
            <a:endParaRPr lang="en-IN" dirty="0"/>
          </a:p>
        </p:txBody>
      </p:sp>
      <p:graphicFrame>
        <p:nvGraphicFramePr>
          <p:cNvPr id="5" name="Table 5">
            <a:extLst>
              <a:ext uri="{FF2B5EF4-FFF2-40B4-BE49-F238E27FC236}">
                <a16:creationId xmlns:a16="http://schemas.microsoft.com/office/drawing/2014/main" id="{A7C10CB5-E62F-7EC7-46B2-E562C792FD3C}"/>
              </a:ext>
            </a:extLst>
          </p:cNvPr>
          <p:cNvGraphicFramePr>
            <a:graphicFrameLocks noGrp="1"/>
          </p:cNvGraphicFramePr>
          <p:nvPr>
            <p:ph idx="1"/>
            <p:extLst>
              <p:ext uri="{D42A27DB-BD31-4B8C-83A1-F6EECF244321}">
                <p14:modId xmlns:p14="http://schemas.microsoft.com/office/powerpoint/2010/main" val="2978168691"/>
              </p:ext>
            </p:extLst>
          </p:nvPr>
        </p:nvGraphicFramePr>
        <p:xfrm>
          <a:off x="838200" y="1825625"/>
          <a:ext cx="10515600" cy="4780280"/>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1626023988"/>
                    </a:ext>
                  </a:extLst>
                </a:gridCol>
                <a:gridCol w="5257800">
                  <a:extLst>
                    <a:ext uri="{9D8B030D-6E8A-4147-A177-3AD203B41FA5}">
                      <a16:colId xmlns:a16="http://schemas.microsoft.com/office/drawing/2014/main" val="3255213408"/>
                    </a:ext>
                  </a:extLst>
                </a:gridCol>
              </a:tblGrid>
              <a:tr h="370840">
                <a:tc>
                  <a:txBody>
                    <a:bodyPr/>
                    <a:lstStyle/>
                    <a:p>
                      <a:r>
                        <a:rPr lang="en-IN" dirty="0"/>
                        <a:t>command </a:t>
                      </a:r>
                    </a:p>
                  </a:txBody>
                  <a:tcPr/>
                </a:tc>
                <a:tc>
                  <a:txBody>
                    <a:bodyPr/>
                    <a:lstStyle/>
                    <a:p>
                      <a:r>
                        <a:rPr lang="en-IN" dirty="0"/>
                        <a:t>description </a:t>
                      </a:r>
                    </a:p>
                  </a:txBody>
                  <a:tcPr/>
                </a:tc>
                <a:extLst>
                  <a:ext uri="{0D108BD9-81ED-4DB2-BD59-A6C34878D82A}">
                    <a16:rowId xmlns:a16="http://schemas.microsoft.com/office/drawing/2014/main" val="4075455941"/>
                  </a:ext>
                </a:extLst>
              </a:tr>
              <a:tr h="370840">
                <a:tc>
                  <a:txBody>
                    <a:bodyPr/>
                    <a:lstStyle/>
                    <a:p>
                      <a:r>
                        <a:rPr lang="en-IN" dirty="0"/>
                        <a:t>git clone </a:t>
                      </a:r>
                      <a:r>
                        <a:rPr lang="en-IN" dirty="0" err="1"/>
                        <a:t>url</a:t>
                      </a:r>
                      <a:r>
                        <a:rPr lang="en-IN" dirty="0"/>
                        <a:t> [</a:t>
                      </a:r>
                      <a:r>
                        <a:rPr lang="en-IN" dirty="0" err="1"/>
                        <a:t>dir</a:t>
                      </a:r>
                      <a:r>
                        <a:rPr lang="en-IN" dirty="0"/>
                        <a:t>]</a:t>
                      </a:r>
                    </a:p>
                  </a:txBody>
                  <a:tcPr/>
                </a:tc>
                <a:tc>
                  <a:txBody>
                    <a:bodyPr/>
                    <a:lstStyle/>
                    <a:p>
                      <a:r>
                        <a:rPr lang="en-US" dirty="0"/>
                        <a:t>copy a Git repository so you can add to it</a:t>
                      </a:r>
                      <a:endParaRPr lang="en-IN" dirty="0"/>
                    </a:p>
                  </a:txBody>
                  <a:tcPr/>
                </a:tc>
                <a:extLst>
                  <a:ext uri="{0D108BD9-81ED-4DB2-BD59-A6C34878D82A}">
                    <a16:rowId xmlns:a16="http://schemas.microsoft.com/office/drawing/2014/main" val="147386512"/>
                  </a:ext>
                </a:extLst>
              </a:tr>
              <a:tr h="370840">
                <a:tc>
                  <a:txBody>
                    <a:bodyPr/>
                    <a:lstStyle/>
                    <a:p>
                      <a:r>
                        <a:rPr lang="en-IN" dirty="0"/>
                        <a:t>git add file</a:t>
                      </a:r>
                    </a:p>
                  </a:txBody>
                  <a:tcPr/>
                </a:tc>
                <a:tc>
                  <a:txBody>
                    <a:bodyPr/>
                    <a:lstStyle/>
                    <a:p>
                      <a:r>
                        <a:rPr lang="en-US" dirty="0"/>
                        <a:t>adds file contents to the staging area</a:t>
                      </a:r>
                      <a:endParaRPr lang="en-IN" dirty="0"/>
                    </a:p>
                  </a:txBody>
                  <a:tcPr/>
                </a:tc>
                <a:extLst>
                  <a:ext uri="{0D108BD9-81ED-4DB2-BD59-A6C34878D82A}">
                    <a16:rowId xmlns:a16="http://schemas.microsoft.com/office/drawing/2014/main" val="2858173587"/>
                  </a:ext>
                </a:extLst>
              </a:tr>
              <a:tr h="370840">
                <a:tc>
                  <a:txBody>
                    <a:bodyPr/>
                    <a:lstStyle/>
                    <a:p>
                      <a:r>
                        <a:rPr lang="en-IN" dirty="0"/>
                        <a:t>git commit </a:t>
                      </a:r>
                    </a:p>
                  </a:txBody>
                  <a:tcPr/>
                </a:tc>
                <a:tc>
                  <a:txBody>
                    <a:bodyPr/>
                    <a:lstStyle/>
                    <a:p>
                      <a:r>
                        <a:rPr lang="en-US" dirty="0"/>
                        <a:t>records a snapshot of the staging area</a:t>
                      </a:r>
                      <a:endParaRPr lang="en-IN" dirty="0"/>
                    </a:p>
                  </a:txBody>
                  <a:tcPr/>
                </a:tc>
                <a:extLst>
                  <a:ext uri="{0D108BD9-81ED-4DB2-BD59-A6C34878D82A}">
                    <a16:rowId xmlns:a16="http://schemas.microsoft.com/office/drawing/2014/main" val="163881190"/>
                  </a:ext>
                </a:extLst>
              </a:tr>
              <a:tr h="370840">
                <a:tc>
                  <a:txBody>
                    <a:bodyPr/>
                    <a:lstStyle/>
                    <a:p>
                      <a:r>
                        <a:rPr lang="en-IN" dirty="0"/>
                        <a:t>git status </a:t>
                      </a:r>
                    </a:p>
                  </a:txBody>
                  <a:tcPr/>
                </a:tc>
                <a:tc>
                  <a:txBody>
                    <a:bodyPr/>
                    <a:lstStyle/>
                    <a:p>
                      <a:r>
                        <a:rPr lang="en-US" dirty="0"/>
                        <a:t>view the status of your files in the working directory and staging area</a:t>
                      </a:r>
                      <a:endParaRPr lang="en-IN" dirty="0"/>
                    </a:p>
                  </a:txBody>
                  <a:tcPr/>
                </a:tc>
                <a:extLst>
                  <a:ext uri="{0D108BD9-81ED-4DB2-BD59-A6C34878D82A}">
                    <a16:rowId xmlns:a16="http://schemas.microsoft.com/office/drawing/2014/main" val="798578941"/>
                  </a:ext>
                </a:extLst>
              </a:tr>
              <a:tr h="370840">
                <a:tc>
                  <a:txBody>
                    <a:bodyPr/>
                    <a:lstStyle/>
                    <a:p>
                      <a:r>
                        <a:rPr lang="en-IN" dirty="0"/>
                        <a:t>git diff</a:t>
                      </a:r>
                    </a:p>
                  </a:txBody>
                  <a:tcPr/>
                </a:tc>
                <a:tc>
                  <a:txBody>
                    <a:bodyPr/>
                    <a:lstStyle/>
                    <a:p>
                      <a:r>
                        <a:rPr lang="en-US" dirty="0"/>
                        <a:t>shows diff of what is staged and what is modified but </a:t>
                      </a:r>
                      <a:r>
                        <a:rPr lang="en-US" dirty="0" err="1"/>
                        <a:t>unstaged</a:t>
                      </a:r>
                      <a:r>
                        <a:rPr lang="en-US" dirty="0"/>
                        <a:t> </a:t>
                      </a:r>
                      <a:endParaRPr lang="en-IN" dirty="0"/>
                    </a:p>
                  </a:txBody>
                  <a:tcPr/>
                </a:tc>
                <a:extLst>
                  <a:ext uri="{0D108BD9-81ED-4DB2-BD59-A6C34878D82A}">
                    <a16:rowId xmlns:a16="http://schemas.microsoft.com/office/drawing/2014/main" val="4129065093"/>
                  </a:ext>
                </a:extLst>
              </a:tr>
              <a:tr h="370840">
                <a:tc>
                  <a:txBody>
                    <a:bodyPr/>
                    <a:lstStyle/>
                    <a:p>
                      <a:r>
                        <a:rPr lang="en-IN" dirty="0"/>
                        <a:t>git help [command]</a:t>
                      </a:r>
                    </a:p>
                  </a:txBody>
                  <a:tcPr/>
                </a:tc>
                <a:tc>
                  <a:txBody>
                    <a:bodyPr/>
                    <a:lstStyle/>
                    <a:p>
                      <a:r>
                        <a:rPr lang="en-US" dirty="0"/>
                        <a:t>get help info about a particular command </a:t>
                      </a:r>
                      <a:endParaRPr lang="en-IN" dirty="0"/>
                    </a:p>
                  </a:txBody>
                  <a:tcPr/>
                </a:tc>
                <a:extLst>
                  <a:ext uri="{0D108BD9-81ED-4DB2-BD59-A6C34878D82A}">
                    <a16:rowId xmlns:a16="http://schemas.microsoft.com/office/drawing/2014/main" val="2568447005"/>
                  </a:ext>
                </a:extLst>
              </a:tr>
              <a:tr h="206819">
                <a:tc>
                  <a:txBody>
                    <a:bodyPr/>
                    <a:lstStyle/>
                    <a:p>
                      <a:r>
                        <a:rPr lang="en-IN" dirty="0"/>
                        <a:t>git pull</a:t>
                      </a:r>
                    </a:p>
                  </a:txBody>
                  <a:tcPr/>
                </a:tc>
                <a:tc>
                  <a:txBody>
                    <a:bodyPr/>
                    <a:lstStyle/>
                    <a:p>
                      <a:r>
                        <a:rPr lang="en-US" dirty="0"/>
                        <a:t>fetch from a remote repo and try to merge into the current branch</a:t>
                      </a:r>
                    </a:p>
                  </a:txBody>
                  <a:tcPr/>
                </a:tc>
                <a:extLst>
                  <a:ext uri="{0D108BD9-81ED-4DB2-BD59-A6C34878D82A}">
                    <a16:rowId xmlns:a16="http://schemas.microsoft.com/office/drawing/2014/main" val="582065027"/>
                  </a:ext>
                </a:extLst>
              </a:tr>
              <a:tr h="206819">
                <a:tc>
                  <a:txBody>
                    <a:bodyPr/>
                    <a:lstStyle/>
                    <a:p>
                      <a:r>
                        <a:rPr lang="en-IN" dirty="0"/>
                        <a:t>git push</a:t>
                      </a:r>
                    </a:p>
                  </a:txBody>
                  <a:tcPr/>
                </a:tc>
                <a:tc>
                  <a:txBody>
                    <a:bodyPr/>
                    <a:lstStyle/>
                    <a:p>
                      <a:r>
                        <a:rPr lang="en-US" dirty="0"/>
                        <a:t>push your new branches and data to a remote repository</a:t>
                      </a:r>
                    </a:p>
                  </a:txBody>
                  <a:tcPr/>
                </a:tc>
                <a:extLst>
                  <a:ext uri="{0D108BD9-81ED-4DB2-BD59-A6C34878D82A}">
                    <a16:rowId xmlns:a16="http://schemas.microsoft.com/office/drawing/2014/main" val="340983992"/>
                  </a:ext>
                </a:extLst>
              </a:tr>
              <a:tr h="206819">
                <a:tc gridSpan="2">
                  <a:txBody>
                    <a:bodyPr/>
                    <a:lstStyle/>
                    <a:p>
                      <a:r>
                        <a:rPr lang="en-IN" dirty="0"/>
                        <a:t>others: </a:t>
                      </a:r>
                      <a:r>
                        <a:rPr lang="en-IN" dirty="0" err="1"/>
                        <a:t>init</a:t>
                      </a:r>
                      <a:r>
                        <a:rPr lang="en-IN" dirty="0"/>
                        <a:t>, reset, branch, checkout, merge, log, tag </a:t>
                      </a:r>
                    </a:p>
                  </a:txBody>
                  <a:tcPr/>
                </a:tc>
                <a:tc hMerge="1">
                  <a:txBody>
                    <a:bodyPr/>
                    <a:lstStyle/>
                    <a:p>
                      <a:endParaRPr lang="en-US" dirty="0"/>
                    </a:p>
                  </a:txBody>
                  <a:tcPr/>
                </a:tc>
                <a:extLst>
                  <a:ext uri="{0D108BD9-81ED-4DB2-BD59-A6C34878D82A}">
                    <a16:rowId xmlns:a16="http://schemas.microsoft.com/office/drawing/2014/main" val="108222068"/>
                  </a:ext>
                </a:extLst>
              </a:tr>
            </a:tbl>
          </a:graphicData>
        </a:graphic>
      </p:graphicFrame>
    </p:spTree>
    <p:extLst>
      <p:ext uri="{BB962C8B-B14F-4D97-AF65-F5344CB8AC3E}">
        <p14:creationId xmlns:p14="http://schemas.microsoft.com/office/powerpoint/2010/main" val="37593965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DB88E4-6A64-3B97-3717-8E53F03453AE}"/>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FC3B33B0-01A6-A5BC-34DB-2D942C6DCD67}"/>
              </a:ext>
            </a:extLst>
          </p:cNvPr>
          <p:cNvPicPr>
            <a:picLocks noGrp="1" noChangeAspect="1"/>
          </p:cNvPicPr>
          <p:nvPr>
            <p:ph idx="1"/>
          </p:nvPr>
        </p:nvPicPr>
        <p:blipFill>
          <a:blip r:embed="rId2"/>
          <a:stretch>
            <a:fillRect/>
          </a:stretch>
        </p:blipFill>
        <p:spPr>
          <a:xfrm>
            <a:off x="3002012" y="2626770"/>
            <a:ext cx="6187976" cy="2766300"/>
          </a:xfrm>
        </p:spPr>
      </p:pic>
    </p:spTree>
    <p:extLst>
      <p:ext uri="{BB962C8B-B14F-4D97-AF65-F5344CB8AC3E}">
        <p14:creationId xmlns:p14="http://schemas.microsoft.com/office/powerpoint/2010/main" val="37037127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757B2E-4C39-5507-76E6-C1D02BAD6E64}"/>
              </a:ext>
            </a:extLst>
          </p:cNvPr>
          <p:cNvSpPr>
            <a:spLocks noGrp="1"/>
          </p:cNvSpPr>
          <p:nvPr>
            <p:ph type="title"/>
          </p:nvPr>
        </p:nvSpPr>
        <p:spPr/>
        <p:txBody>
          <a:bodyPr/>
          <a:lstStyle/>
          <a:p>
            <a:r>
              <a:rPr lang="en-IN" dirty="0"/>
              <a:t>GIT RESET</a:t>
            </a:r>
          </a:p>
        </p:txBody>
      </p:sp>
      <p:sp>
        <p:nvSpPr>
          <p:cNvPr id="3" name="Content Placeholder 2">
            <a:extLst>
              <a:ext uri="{FF2B5EF4-FFF2-40B4-BE49-F238E27FC236}">
                <a16:creationId xmlns:a16="http://schemas.microsoft.com/office/drawing/2014/main" id="{03E4AB05-400A-4DB7-0B80-5B132C402445}"/>
              </a:ext>
            </a:extLst>
          </p:cNvPr>
          <p:cNvSpPr>
            <a:spLocks noGrp="1"/>
          </p:cNvSpPr>
          <p:nvPr>
            <p:ph idx="1"/>
          </p:nvPr>
        </p:nvSpPr>
        <p:spPr/>
        <p:txBody>
          <a:bodyPr/>
          <a:lstStyle/>
          <a:p>
            <a:r>
              <a:rPr lang="en-US" dirty="0"/>
              <a:t>The git reset command is a complex and versatile tool for undoing changes. It has three primary forms of invocation. These forms correspond to command line arguments --soft, - -mixed, --hard. The three arguments each correspond to Git's three internal state management mechanism's, The Commit Tree (HEAD), The Staging Index, and The Working Directory</a:t>
            </a:r>
            <a:endParaRPr lang="en-IN" dirty="0"/>
          </a:p>
        </p:txBody>
      </p:sp>
      <p:pic>
        <p:nvPicPr>
          <p:cNvPr id="5" name="Picture 4">
            <a:extLst>
              <a:ext uri="{FF2B5EF4-FFF2-40B4-BE49-F238E27FC236}">
                <a16:creationId xmlns:a16="http://schemas.microsoft.com/office/drawing/2014/main" id="{A203A583-64EA-04D2-8C84-0A16DE203314}"/>
              </a:ext>
            </a:extLst>
          </p:cNvPr>
          <p:cNvPicPr>
            <a:picLocks noChangeAspect="1"/>
          </p:cNvPicPr>
          <p:nvPr/>
        </p:nvPicPr>
        <p:blipFill>
          <a:blip r:embed="rId2"/>
          <a:stretch>
            <a:fillRect/>
          </a:stretch>
        </p:blipFill>
        <p:spPr>
          <a:xfrm>
            <a:off x="6004943" y="4130470"/>
            <a:ext cx="4816257" cy="2362405"/>
          </a:xfrm>
          <a:prstGeom prst="rect">
            <a:avLst/>
          </a:prstGeom>
        </p:spPr>
      </p:pic>
    </p:spTree>
    <p:extLst>
      <p:ext uri="{BB962C8B-B14F-4D97-AF65-F5344CB8AC3E}">
        <p14:creationId xmlns:p14="http://schemas.microsoft.com/office/powerpoint/2010/main" val="29180762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17063A-F9F3-C10E-FB95-4B5BB095CC31}"/>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DF2BD75B-340E-E40B-860C-162C3C9086AC}"/>
              </a:ext>
            </a:extLst>
          </p:cNvPr>
          <p:cNvPicPr>
            <a:picLocks noGrp="1" noChangeAspect="1"/>
          </p:cNvPicPr>
          <p:nvPr>
            <p:ph idx="1"/>
          </p:nvPr>
        </p:nvPicPr>
        <p:blipFill>
          <a:blip r:embed="rId2"/>
          <a:stretch>
            <a:fillRect/>
          </a:stretch>
        </p:blipFill>
        <p:spPr>
          <a:xfrm>
            <a:off x="838200" y="2381704"/>
            <a:ext cx="10515600" cy="3239180"/>
          </a:xfrm>
          <a:prstGeom prst="rect">
            <a:avLst/>
          </a:prstGeom>
        </p:spPr>
      </p:pic>
    </p:spTree>
    <p:extLst>
      <p:ext uri="{BB962C8B-B14F-4D97-AF65-F5344CB8AC3E}">
        <p14:creationId xmlns:p14="http://schemas.microsoft.com/office/powerpoint/2010/main" val="27109684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840232-07E4-4578-4C45-7FDBE81337C5}"/>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4F2A98A2-EE98-0C6A-9D39-489C61BEF8C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330267" y="221942"/>
            <a:ext cx="6787100" cy="6811647"/>
          </a:xfrm>
        </p:spPr>
      </p:pic>
    </p:spTree>
    <p:extLst>
      <p:ext uri="{BB962C8B-B14F-4D97-AF65-F5344CB8AC3E}">
        <p14:creationId xmlns:p14="http://schemas.microsoft.com/office/powerpoint/2010/main" val="12228116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A7F669-D95E-0552-CE80-A7EBC91EC1A6}"/>
              </a:ext>
            </a:extLst>
          </p:cNvPr>
          <p:cNvSpPr>
            <a:spLocks noGrp="1"/>
          </p:cNvSpPr>
          <p:nvPr>
            <p:ph type="title"/>
          </p:nvPr>
        </p:nvSpPr>
        <p:spPr/>
        <p:txBody>
          <a:bodyPr/>
          <a:lstStyle/>
          <a:p>
            <a:r>
              <a:rPr lang="en-IN" dirty="0"/>
              <a:t>Getting Data from .git folder</a:t>
            </a:r>
          </a:p>
        </p:txBody>
      </p:sp>
      <p:sp>
        <p:nvSpPr>
          <p:cNvPr id="3" name="Content Placeholder 2">
            <a:extLst>
              <a:ext uri="{FF2B5EF4-FFF2-40B4-BE49-F238E27FC236}">
                <a16:creationId xmlns:a16="http://schemas.microsoft.com/office/drawing/2014/main" id="{98CF57A7-D927-617D-5E43-4B22DC1848AA}"/>
              </a:ext>
            </a:extLst>
          </p:cNvPr>
          <p:cNvSpPr>
            <a:spLocks noGrp="1"/>
          </p:cNvSpPr>
          <p:nvPr>
            <p:ph idx="1"/>
          </p:nvPr>
        </p:nvSpPr>
        <p:spPr/>
        <p:txBody>
          <a:bodyPr/>
          <a:lstStyle/>
          <a:p>
            <a:endParaRPr lang="en-IN" dirty="0"/>
          </a:p>
          <a:p>
            <a:r>
              <a:rPr lang="en-IN" dirty="0"/>
              <a:t>$ git ls-files -s 100644 edae7743ce801366a9338a3e1ad0f2cdc633c34c 0 Git.pptx 100644 bdd166a5c1e0b6cbd34fcc5a22171ce26754412b 0 git installation.txt</a:t>
            </a:r>
          </a:p>
          <a:p>
            <a:endParaRPr lang="en-IN" dirty="0"/>
          </a:p>
          <a:p>
            <a:r>
              <a:rPr lang="en-IN" dirty="0"/>
              <a:t>$git cat-file -p bdd166a5c1e0b6cbd34fcc5a22171ce26754412b</a:t>
            </a:r>
          </a:p>
        </p:txBody>
      </p:sp>
    </p:spTree>
    <p:extLst>
      <p:ext uri="{BB962C8B-B14F-4D97-AF65-F5344CB8AC3E}">
        <p14:creationId xmlns:p14="http://schemas.microsoft.com/office/powerpoint/2010/main" val="230396642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10D9E5-4479-2BF9-8953-399A32725F21}"/>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3D62A76D-A687-E516-BDD6-450E1ED555B8}"/>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17548560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DE91AF-44C7-6A28-4C2E-0C44E6B0B08B}"/>
              </a:ext>
            </a:extLst>
          </p:cNvPr>
          <p:cNvSpPr>
            <a:spLocks noGrp="1"/>
          </p:cNvSpPr>
          <p:nvPr>
            <p:ph type="title"/>
          </p:nvPr>
        </p:nvSpPr>
        <p:spPr/>
        <p:txBody>
          <a:bodyPr/>
          <a:lstStyle/>
          <a:p>
            <a:r>
              <a:rPr lang="en-US" dirty="0"/>
              <a:t>Resources</a:t>
            </a:r>
            <a:endParaRPr lang="en-IN" dirty="0"/>
          </a:p>
        </p:txBody>
      </p:sp>
      <p:sp>
        <p:nvSpPr>
          <p:cNvPr id="3" name="Content Placeholder 2">
            <a:extLst>
              <a:ext uri="{FF2B5EF4-FFF2-40B4-BE49-F238E27FC236}">
                <a16:creationId xmlns:a16="http://schemas.microsoft.com/office/drawing/2014/main" id="{072C6D00-D47C-6FBB-15BA-4D2402895E77}"/>
              </a:ext>
            </a:extLst>
          </p:cNvPr>
          <p:cNvSpPr>
            <a:spLocks noGrp="1"/>
          </p:cNvSpPr>
          <p:nvPr>
            <p:ph idx="1"/>
          </p:nvPr>
        </p:nvSpPr>
        <p:spPr/>
        <p:txBody>
          <a:bodyPr/>
          <a:lstStyle/>
          <a:p>
            <a:r>
              <a:rPr lang="en-IN" dirty="0"/>
              <a:t>https://git-scm.com/book/en/v2/Getting-StartedAbout-Version-Control </a:t>
            </a:r>
          </a:p>
          <a:p>
            <a:r>
              <a:rPr lang="en-IN" dirty="0"/>
              <a:t>https://about.gitlab.com/topics/version-control/ </a:t>
            </a:r>
          </a:p>
          <a:p>
            <a:r>
              <a:rPr lang="en-IN" dirty="0"/>
              <a:t>https://www.atlassian.com/git/tutorials/learn-gitwith-bitbucket-cloud </a:t>
            </a:r>
          </a:p>
          <a:p>
            <a:r>
              <a:rPr lang="en-IN"/>
              <a:t>https</a:t>
            </a:r>
            <a:r>
              <a:rPr lang="en-IN" dirty="0"/>
              <a:t>://serengetitech.com/tech/introduction-to-gitand-types-of-version-control-systems</a:t>
            </a:r>
            <a:r>
              <a:rPr lang="en-IN"/>
              <a:t>/ </a:t>
            </a:r>
          </a:p>
          <a:p>
            <a:r>
              <a:rPr lang="en-IN"/>
              <a:t>https</a:t>
            </a:r>
            <a:r>
              <a:rPr lang="en-IN" dirty="0"/>
              <a:t>://learngitbranching.js.org/ </a:t>
            </a:r>
          </a:p>
        </p:txBody>
      </p:sp>
    </p:spTree>
    <p:extLst>
      <p:ext uri="{BB962C8B-B14F-4D97-AF65-F5344CB8AC3E}">
        <p14:creationId xmlns:p14="http://schemas.microsoft.com/office/powerpoint/2010/main" val="325302827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248</TotalTime>
  <Words>1483</Words>
  <Application>Microsoft Office PowerPoint</Application>
  <PresentationFormat>Widescreen</PresentationFormat>
  <Paragraphs>160</Paragraphs>
  <Slides>28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28</vt:i4>
      </vt:variant>
    </vt:vector>
  </HeadingPairs>
  <TitlesOfParts>
    <vt:vector size="33" baseType="lpstr">
      <vt:lpstr>Aptos</vt:lpstr>
      <vt:lpstr>Aptos Display</vt:lpstr>
      <vt:lpstr>Arial</vt:lpstr>
      <vt:lpstr>Courier New</vt:lpstr>
      <vt:lpstr>Office Theme</vt:lpstr>
      <vt:lpstr>Git</vt:lpstr>
      <vt:lpstr>What is Git?</vt:lpstr>
      <vt:lpstr>Main features:</vt:lpstr>
      <vt:lpstr>PowerPoint Presentation</vt:lpstr>
      <vt:lpstr>What is Github? </vt:lpstr>
      <vt:lpstr>LOCAL VERSION CONTROL SYSTEM</vt:lpstr>
      <vt:lpstr>Disadvantages:</vt:lpstr>
      <vt:lpstr>CENTRALIZED VERSION CONTROL SYSTEM</vt:lpstr>
      <vt:lpstr>Disadvantages</vt:lpstr>
      <vt:lpstr>PowerPoint Presentation</vt:lpstr>
      <vt:lpstr>DISTRIBUTED VERSION CONTROL SYSTEM</vt:lpstr>
      <vt:lpstr>Advantages</vt:lpstr>
      <vt:lpstr>HOW GIT STORES INFORMATION ABOUT CHANGES</vt:lpstr>
      <vt:lpstr>PowerPoint Presentation</vt:lpstr>
      <vt:lpstr>PowerPoint Presentation</vt:lpstr>
      <vt:lpstr>PowerPoint Presentation</vt:lpstr>
      <vt:lpstr>Files</vt:lpstr>
      <vt:lpstr>Connecting git with GitHub</vt:lpstr>
      <vt:lpstr>Creating a Git repo</vt:lpstr>
      <vt:lpstr>PowerPoint Presentation</vt:lpstr>
      <vt:lpstr>Git Commands</vt:lpstr>
      <vt:lpstr>PowerPoint Presentation</vt:lpstr>
      <vt:lpstr>GIT RESET</vt:lpstr>
      <vt:lpstr>PowerPoint Presentation</vt:lpstr>
      <vt:lpstr>PowerPoint Presentation</vt:lpstr>
      <vt:lpstr>Getting Data from .git folder</vt:lpstr>
      <vt:lpstr>PowerPoint Presentation</vt:lpstr>
      <vt:lpstr>Resources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CHP</dc:creator>
  <cp:lastModifiedBy>Ch Praneeth</cp:lastModifiedBy>
  <cp:revision>32</cp:revision>
  <dcterms:created xsi:type="dcterms:W3CDTF">2023-04-03T20:57:18Z</dcterms:created>
  <dcterms:modified xsi:type="dcterms:W3CDTF">2026-01-09T05:07:17Z</dcterms:modified>
</cp:coreProperties>
</file>